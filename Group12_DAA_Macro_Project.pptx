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91" r:id="rId4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82" y="2130371"/>
            <a:ext cx="7772205" cy="14699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65" y="3886102"/>
            <a:ext cx="6400639" cy="17525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88" y="274631"/>
            <a:ext cx="8229394" cy="1142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88" y="1600159"/>
            <a:ext cx="8229394" cy="452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188" y="6356190"/>
            <a:ext cx="2133546" cy="3651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121" y="6356190"/>
            <a:ext cx="2895527" cy="3651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036" y="6356190"/>
            <a:ext cx="2133546" cy="3651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Asymptotic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64B5F6"/>
                </a:solidFill>
                <a:latin typeface="Calibri"/>
              </a:defRPr>
            </a:pPr>
            <a:r>
              <a:t>Growth Rates &amp; Notation Comparison (Unit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6209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Design and Analysis of Algorithms (DAA)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CFD8DC"/>
                </a:solidFill>
                <a:latin typeface="Calibri"/>
              </a:defRPr>
            </a:pPr>
            <a:r>
              <a:t>B.Tech CSE — Group 12 | Mini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90CAF9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Asymptotic Analysis?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121"/>
                </a:solidFill>
                <a:latin typeface="Calibri"/>
              </a:defRPr>
            </a:pPr>
            <a:r>
              <a:t>Asymptotic analysis is the mathematical evaluation of an algorithm's resource consumption (time or memory) as the input size n becomes arbitrarily large.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237E"/>
                </a:solidFill>
              </a:rPr>
              <a:t>• Hardware Independence:</a:t>
            </a:r>
            <a:r>
              <a:rPr sz="1800">
                <a:solidFill>
                  <a:srgbClr val="212121"/>
                </a:solidFill>
              </a:rPr>
              <a:t> Execution speed varies across processors, operating systems, and compilers. Asymptotic analysis measures efficiency independently of machine specifications.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237E"/>
                </a:solidFill>
              </a:rPr>
              <a:t>• Focus on Scalability:</a:t>
            </a:r>
            <a:r>
              <a:rPr sz="1800">
                <a:solidFill>
                  <a:srgbClr val="212121"/>
                </a:solidFill>
              </a:rPr>
              <a:t> How does the execution time scale when input n grows from 10 to 1,000,000?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237E"/>
                </a:solidFill>
              </a:rPr>
              <a:t>• Ignoring Low-Order Terms:</a:t>
            </a:r>
            <a:r>
              <a:rPr sz="1800">
                <a:solidFill>
                  <a:srgbClr val="212121"/>
                </a:solidFill>
              </a:rPr>
              <a:t> As n approaches infinity, higher-order terms dominate, rendering smaller terms and constant multipliers negligible.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237E"/>
                </a:solidFill>
              </a:rPr>
              <a:t>• Core Objective:</a:t>
            </a:r>
            <a:r>
              <a:rPr sz="1800">
                <a:solidFill>
                  <a:srgbClr val="212121"/>
                </a:solidFill>
              </a:rPr>
              <a:t> Compare an algorithm's complexity against standard reference families (logarithmic, linear, polynomial, exponential).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120640"/>
            <a:ext cx="9418320" cy="822960"/>
          </a:xfrm>
          <a:prstGeom prst="roundRect">
            <a:avLst/>
          </a:prstGeom>
          <a:solidFill>
            <a:srgbClr val="EEF2FF"/>
          </a:solidFill>
          <a:ln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4A148C"/>
                </a:solidFill>
                <a:latin typeface="Calibri"/>
              </a:defRPr>
            </a:pPr>
            <a:r>
              <a:t>Key Idea: As n → ∞, the highest-order term dictates computational resource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Three Fundamental Notations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4ED8"/>
                </a:solidFill>
              </a:defRPr>
            </a:pPr>
            <a:r>
              <a:t>Big-O Notation — O(g(n))</a:t>
            </a:r>
          </a:p>
          <a:p>
            <a:pPr>
              <a:spcBef>
                <a:spcPts val="600"/>
              </a:spcBef>
              <a:defRPr sz="1600" b="1">
                <a:solidFill>
                  <a:srgbClr val="212121"/>
                </a:solidFill>
              </a:defRPr>
            </a:pPr>
            <a:r>
              <a:t>Asymptotic Upper Bound</a:t>
            </a:r>
          </a:p>
          <a:p>
            <a:pPr>
              <a:spcBef>
                <a:spcPts val="1400"/>
              </a:spcBef>
              <a:defRPr sz="1600">
                <a:solidFill>
                  <a:srgbClr val="616161"/>
                </a:solidFill>
              </a:defRPr>
            </a:pPr>
            <a:r>
              <a:t>• Represents the worst-case ceiling.</a:t>
            </a:r>
            <a:br/>
            <a:r>
              <a:t>• Guarantees the algorithm will NEVER take more time than c·g(n) for large n.</a:t>
            </a:r>
            <a:br/>
            <a:r>
              <a:t>• Mnemonic: The Ceiling.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9488"/>
                </a:solidFill>
              </a:defRPr>
            </a:pPr>
            <a:r>
              <a:t>Big-Omega — Ω(g(n))</a:t>
            </a:r>
          </a:p>
          <a:p>
            <a:pPr>
              <a:spcBef>
                <a:spcPts val="600"/>
              </a:spcBef>
              <a:defRPr sz="1600" b="1">
                <a:solidFill>
                  <a:srgbClr val="212121"/>
                </a:solidFill>
              </a:defRPr>
            </a:pPr>
            <a:r>
              <a:t>Asymptotic Lower Bound</a:t>
            </a:r>
          </a:p>
          <a:p>
            <a:pPr>
              <a:spcBef>
                <a:spcPts val="1400"/>
              </a:spcBef>
              <a:defRPr sz="1600">
                <a:solidFill>
                  <a:srgbClr val="616161"/>
                </a:solidFill>
              </a:defRPr>
            </a:pPr>
            <a:r>
              <a:t>• Represents the best-case floor.</a:t>
            </a:r>
            <a:br/>
            <a:r>
              <a:t>• Guarantees the algorithm will take AT LEAST c·g(n) steps in the limit.</a:t>
            </a:r>
            <a:br/>
            <a:r>
              <a:t>• Mnemonic: The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297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Big-Theta — Θ(g(n))</a:t>
            </a:r>
          </a:p>
          <a:p>
            <a:pPr>
              <a:spcBef>
                <a:spcPts val="600"/>
              </a:spcBef>
              <a:defRPr sz="1600" b="1">
                <a:solidFill>
                  <a:srgbClr val="212121"/>
                </a:solidFill>
              </a:defRPr>
            </a:pPr>
            <a:r>
              <a:t>Asymptotically Tight Bound</a:t>
            </a:r>
          </a:p>
          <a:p>
            <a:pPr>
              <a:spcBef>
                <a:spcPts val="1400"/>
              </a:spcBef>
              <a:defRPr sz="1600">
                <a:solidFill>
                  <a:srgbClr val="616161"/>
                </a:solidFill>
              </a:defRPr>
            </a:pPr>
            <a:r>
              <a:t>• Sandwiches the function from both above and below.</a:t>
            </a:r>
            <a:br/>
            <a:r>
              <a:t>• Pinpoints the EXACT growth rate when upper and lower bounds match.</a:t>
            </a:r>
            <a:br/>
            <a:r>
              <a:t>• Mnemonic: The Exact Corridor.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Mathematical Definitions &amp; Equivalence Theorem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A237E"/>
                </a:solidFill>
              </a:defRPr>
            </a:pPr>
            <a:r>
              <a:t>Formal Mathematical Definitions: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12121"/>
                </a:solidFill>
              </a:rPr>
              <a:t>• Big-O Definition: </a:t>
            </a:r>
            <a:r>
              <a:rPr sz="1800">
                <a:solidFill>
                  <a:srgbClr val="616161"/>
                </a:solidFill>
              </a:rPr>
              <a:t>0 ≤ f(n) ≤ c · g(n)   for all n ≥ n₀, where c &gt; 0 and n₀ ≥ 1.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12121"/>
                </a:solidFill>
              </a:rPr>
              <a:t>• Big-Omega Definition: </a:t>
            </a:r>
            <a:r>
              <a:rPr sz="1800">
                <a:solidFill>
                  <a:srgbClr val="616161"/>
                </a:solidFill>
              </a:rPr>
              <a:t>0 ≤ c · g(n) ≤ f(n)   for all n ≥ n₀, where c &gt; 0 and n₀ ≥ 1.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212121"/>
                </a:solidFill>
              </a:rPr>
              <a:t>• Big-Theta Definition: </a:t>
            </a:r>
            <a:r>
              <a:rPr sz="1800">
                <a:solidFill>
                  <a:srgbClr val="616161"/>
                </a:solidFill>
              </a:rPr>
              <a:t>0 ≤ c₁ · g(n) ≤ f(n) ≤ c₂ · g(n)   for all n ≥ n₀, where c₁, c₂ &gt; 0 and n₀ ≥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EEF2FF"/>
          </a:solidFill>
          <a:ln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A237E"/>
                </a:solidFill>
              </a:defRPr>
            </a:pPr>
            <a:r>
              <a:t>THE ASYMPTOTIC EQUIVALENCE THEOREM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4A148C"/>
                </a:solidFill>
              </a:defRPr>
            </a:pPr>
            <a:r>
              <a:t>f(n) = Θ(g(n))   ⟺   f(n) = O(g(n))   AND   f(n) = Ω(g(n))</a:t>
            </a:r>
          </a:p>
          <a:p>
            <a:pPr algn="ctr">
              <a:spcBef>
                <a:spcPts val="800"/>
              </a:spcBef>
              <a:defRPr sz="1600">
                <a:solidFill>
                  <a:srgbClr val="212121"/>
                </a:solidFill>
              </a:defRPr>
            </a:pPr>
            <a:r>
              <a:t>Significance: An algorithm has a tight bound Θ(g(n)) if and only if its upper ceiling and lower floor match the exact same rate of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Mathematical Dry Run: f(n) = 3n² + 2n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237E"/>
                </a:solidFill>
              </a:rPr>
              <a:t>► Step 1: Identify Dominant Candidate Term
</a:t>
            </a:r>
            <a:r>
              <a:rPr sz="1600">
                <a:solidFill>
                  <a:srgbClr val="212121"/>
                </a:solidFill>
              </a:rPr>
              <a:t>The given polynomial is f(n) = 3n² + 2n + 1. The highest exponent is 2, so our reference function is g(n) = n².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237E"/>
                </a:solidFill>
              </a:rPr>
              <a:t>► Step 2: Proving Big-O (Upper Bound)
</a:t>
            </a:r>
            <a:r>
              <a:rPr sz="1600">
                <a:solidFill>
                  <a:srgbClr val="212121"/>
                </a:solidFill>
              </a:rPr>
              <a:t>We must find c &gt; 0, n₀ ≥ 1 such that 3n² + 2n + 1 ≤ c · n².
For n ≥ 1, we know 2n ≤ 2n² and 1 ≤ 1n².
Thus: 3n² + 2n + 1 ≤ 3n² + 2n² + 1n² = 6n².
Choosing c = 6 and n₀ = 1 confirms: f(n) ∈ O(n²).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237E"/>
                </a:solidFill>
              </a:rPr>
              <a:t>► Step 3: Proving Big-Omega (Lower Bound)
</a:t>
            </a:r>
            <a:r>
              <a:rPr sz="1600">
                <a:solidFill>
                  <a:srgbClr val="212121"/>
                </a:solidFill>
              </a:rPr>
              <a:t>We must find c &gt; 0, n₀ ≥ 1 such that 3n² + 2n + 1 ≥ c · n².
Since 2n + 1 &gt; 0 for all n ≥ 1, it is immediate that:
3n² + 2n + 1 ≥ 3n² for all n ≥ 1.
Choosing c = 3 and n₀ = 1 confirms: f(n) ∈ Ω(n²).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237E"/>
                </a:solidFill>
              </a:rPr>
              <a:t>► Step 4: Establishing Big-Theta (Tight Bound)
</a:t>
            </a:r>
            <a:r>
              <a:rPr sz="1600">
                <a:solidFill>
                  <a:srgbClr val="212121"/>
                </a:solidFill>
              </a:rPr>
              <a:t>Combining Steps 2 and 3: for all n ≥ 1, 3n² ≤ 3n² + 2n + 1 ≤ 6n².
With c₁ = 3, c₂ = 6, and n₀ = 1, f(n) is formally proven to be Θ(n²).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Algorithm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4ED8"/>
                </a:solidFill>
              </a:defRPr>
            </a:pPr>
            <a:r>
              <a:t>Linear Search Analysis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Algorithm: </a:t>
            </a:r>
            <a:r>
              <a:rPr sz="1500">
                <a:solidFill>
                  <a:srgbClr val="616161"/>
                </a:solidFill>
              </a:rPr>
              <a:t> Sequentially compares target key with each element in an array of size n.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Best Case: Ω(1) </a:t>
            </a:r>
            <a:r>
              <a:rPr sz="1500">
                <a:solidFill>
                  <a:srgbClr val="616161"/>
                </a:solidFill>
              </a:rPr>
              <a:t> Target element is located at index 0 on the very first comparison.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Worst Case: O(n) </a:t>
            </a:r>
            <a:r>
              <a:rPr sz="1500">
                <a:solidFill>
                  <a:srgbClr val="616161"/>
                </a:solidFill>
              </a:rPr>
              <a:t> Target element is at index n-1 or absent entirely (requires n comparisons).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Average Case: Θ(n) </a:t>
            </a:r>
            <a:r>
              <a:rPr sz="1500">
                <a:solidFill>
                  <a:srgbClr val="616161"/>
                </a:solidFill>
              </a:rPr>
              <a:t> On average, finds target after n/2 comparisons.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Key Takeaway: </a:t>
            </a:r>
            <a:r>
              <a:rPr sz="1500">
                <a:solidFill>
                  <a:srgbClr val="616161"/>
                </a:solidFill>
              </a:rPr>
              <a:t> Because best-case and worst-case bounds diverge (1 vs n), Linear Search is NOT Θ(n) across all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C3AED"/>
                </a:solidFill>
              </a:defRPr>
            </a:pPr>
            <a:r>
              <a:t>Merge Sort Analysis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Algorithm: </a:t>
            </a:r>
            <a:r>
              <a:rPr sz="1500">
                <a:solidFill>
                  <a:srgbClr val="616161"/>
                </a:solidFill>
              </a:rPr>
              <a:t> Divide-and-conquer strategy: recursively splits array in half and merges sorted halves.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Recurrence Relation: </a:t>
            </a:r>
            <a:r>
              <a:rPr sz="1500">
                <a:solidFill>
                  <a:srgbClr val="616161"/>
                </a:solidFill>
              </a:rPr>
              <a:t> T(n) = 2T(n/2) + Θ(n)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Consistent Behavior: </a:t>
            </a:r>
            <a:r>
              <a:rPr sz="1500">
                <a:solidFill>
                  <a:srgbClr val="616161"/>
                </a:solidFill>
              </a:rPr>
              <a:t> Merge Sort always splits down to single elements and merges in linear time, regardless of initial input order.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Tight Bound: Θ(n log n) </a:t>
            </a:r>
            <a:r>
              <a:rPr sz="1500">
                <a:solidFill>
                  <a:srgbClr val="616161"/>
                </a:solidFill>
              </a:rPr>
              <a:t> Best, Average, and Worst cases are all identically Θ(n log n).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12121"/>
                </a:solidFill>
              </a:rPr>
              <a:t>Key Takeaway: </a:t>
            </a:r>
            <a:r>
              <a:rPr sz="1500">
                <a:solidFill>
                  <a:srgbClr val="616161"/>
                </a:solidFill>
              </a:rPr>
              <a:t> Since upper and lower bounds match in all scenarios, Merge Sort possesses a universally tight bound.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Visualization &amp; Asymptotic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7/10</a:t>
            </a:r>
          </a:p>
        </p:txBody>
      </p:sp>
      <p:pic>
        <p:nvPicPr>
          <p:cNvPr id="5" name="Picture 4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555019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Understanding Growth Rates &amp; Semi-Log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Quantitative Comparison of Tested Growth Rates (for n = 1 to 10):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D4ED8"/>
                </a:solidFill>
              </a:rPr>
              <a:t>• Linear Function — n:</a:t>
            </a:r>
            <a:r>
              <a:rPr sz="1700">
                <a:solidFill>
                  <a:srgbClr val="212121"/>
                </a:solidFill>
              </a:rPr>
              <a:t> Scales steadily: f(1)=1, f(5)=5, f(10)=10. Growth factor remains constant.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0D9488"/>
                </a:solidFill>
              </a:rPr>
              <a:t>• Linearithmic Function — n log₂ n:</a:t>
            </a:r>
            <a:r>
              <a:rPr sz="1700">
                <a:solidFill>
                  <a:srgbClr val="212121"/>
                </a:solidFill>
              </a:rPr>
              <a:t> Common in divide-and-conquer: f(1)=0, f(5)≈11.6, f(10)≈33.2.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7C3AED"/>
                </a:solidFill>
              </a:rPr>
              <a:t>• Quadratic Function — n²:</a:t>
            </a:r>
            <a:r>
              <a:rPr sz="1700">
                <a:solidFill>
                  <a:srgbClr val="212121"/>
                </a:solidFill>
              </a:rPr>
              <a:t> Common in nested loops: f(1)=1, f(5)=25, f(10)=100. Accelerates quickly.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DC2626"/>
                </a:solidFill>
              </a:rPr>
              <a:t>• Exponential Function — 2ⁿ:</a:t>
            </a:r>
            <a:r>
              <a:rPr sz="1700">
                <a:solidFill>
                  <a:srgbClr val="212121"/>
                </a:solidFill>
              </a:rPr>
              <a:t> Intractable combinatorial search: f(1)=2, f(5)=32, f(10)=1024! Explodes.</a:t>
            </a:r>
          </a:p>
          <a:p>
            <a:pPr>
              <a:spcBef>
                <a:spcPts val="1600"/>
              </a:spcBef>
            </a:pPr>
            <a:r>
              <a:rPr sz="1900" b="1">
                <a:solidFill>
                  <a:srgbClr val="1A237E"/>
                </a:solidFill>
              </a:rPr>
              <a:t>Why Use a Logarithmic Vertical Axis (y = log₁₀(value))?
</a:t>
            </a:r>
            <a:r>
              <a:rPr sz="1600">
                <a:solidFill>
                  <a:srgbClr val="616161"/>
                </a:solidFill>
              </a:rPr>
              <a:t>At n = 10, the exponential value (1024) is over 100 times larger than the linear value (10). On a standard linear chart, the linear and linearithmic lines would be squashed flat against the bottom axis. Using log₁₀ scales decades (1, 10, 100, 1000) evenly, ensuring all four curves remain distinct, visible, and directly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Complexity Hierarchy &amp; Key Viva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22960"/>
          </a:xfrm>
          <a:prstGeom prst="roundRect">
            <a:avLst/>
          </a:prstGeom>
          <a:solidFill>
            <a:srgbClr val="EEF2FF"/>
          </a:solidFill>
          <a:ln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A237E"/>
                </a:solidFill>
              </a:defRPr>
            </a:pPr>
            <a:r>
              <a:t>Growth Rate Hierarchy: O(1) &lt; O(log n) &lt; O(n) &lt; O(n log n) &lt; O(n²) &lt; O(2ⁿ) &lt; O(n!)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Frequently Asked Viva Questions &amp; Answers: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Q: If an algorithm is O(n²), is it also O(n³)?
</a:t>
            </a:r>
            <a:r>
              <a:rPr sz="1500">
                <a:solidFill>
                  <a:srgbClr val="212121"/>
                </a:solidFill>
              </a:rPr>
              <a:t>A: YES. Big-O is an upper bound ceiling. Any function bounded by n² is certainly bounded by n³. However, it is NOT Θ(n³).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Q: Why are constants ignored in asymptotic notation?
</a:t>
            </a:r>
            <a:r>
              <a:rPr sz="1500">
                <a:solidFill>
                  <a:srgbClr val="212121"/>
                </a:solidFill>
              </a:rPr>
              <a:t>A: Constants depend on hardware specs and runtime environments. Asymptotic analysis measures purely algorithmic scalability as n grows.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Q: What distinguishes Big-O from worst-case running time?
</a:t>
            </a:r>
            <a:r>
              <a:rPr sz="1500">
                <a:solidFill>
                  <a:srgbClr val="212121"/>
                </a:solidFill>
              </a:rPr>
              <a:t>A: 'Worst-case' describes the worst possible input scenario; Big-O is a mathematical upper bound that can be applied to worst-case, best-case, or average-case functions.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Q: What is the significance of the threshold n₀?
</a:t>
            </a:r>
            <a:r>
              <a:rPr sz="1500">
                <a:solidFill>
                  <a:srgbClr val="212121"/>
                </a:solidFill>
              </a:rPr>
              <a:t>A: It guarantees that the bounding inequality holds for all sufficiently large inputs, even if smaller inputs behave irregularly.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Learning Outcomes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16161"/>
                </a:solidFill>
                <a:latin typeface="Calibri"/>
              </a:defRPr>
            </a:pPr>
            <a: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A237E"/>
                </a:solidFill>
              </a:defRPr>
            </a:pPr>
            <a:r>
              <a:t>Learning Outcomes: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121"/>
                </a:solidFill>
              </a:rPr>
              <a:t>1. Mastered the formal mathematical definitions and inequalities for O, Ω, and Θ notations.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121"/>
                </a:solidFill>
              </a:rPr>
              <a:t>2. Demonstrated that an asymptotically tight bound requires satisfying both upper and lower bounds simultaneously.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121"/>
                </a:solidFill>
              </a:rPr>
              <a:t>3. Solved polynomial asymptotic growth proofs by identifying suitable constants c and threshold n₀.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121"/>
                </a:solidFill>
              </a:rPr>
              <a:t>4. Analyzed algorithm case studies, distinguishing algorithms with variable bounds (Linear Search) from uniform bounds (Merge Sort).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212121"/>
                </a:solidFill>
              </a:rPr>
              <a:t>5. Learned how to visualize widely divergent growth curves using logarithmic scaling in Python.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EEF2FF"/>
          </a:solidFill>
          <a:ln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37E"/>
                </a:solidFill>
              </a:defRPr>
            </a:pPr>
            <a:r>
              <a:t>CONCLUSION</a:t>
            </a:r>
          </a:p>
          <a:p>
            <a:pPr algn="ctr">
              <a:spcBef>
                <a:spcPts val="600"/>
              </a:spcBef>
              <a:defRPr sz="1600">
                <a:solidFill>
                  <a:srgbClr val="212121"/>
                </a:solidFill>
              </a:defRPr>
            </a:pPr>
            <a:r>
              <a:t>Asymptotic analysis provides a robust, machine-independent foundation for evaluating algorithmic efficiency. By abstracting away low-level machine dependencies and focusing on asymptotic growth rates, developers and researchers can accurately predict scalability and design optimal software architectures.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560320"/>
            <a:ext cx="39319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159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Greedy Job Sequencing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400"/>
              </a:spcAft>
              <a:defRPr sz="3000" b="0">
                <a:solidFill>
                  <a:srgbClr val="2E86AB"/>
                </a:solidFill>
              </a:defRPr>
            </a:pPr>
            <a:r>
              <a:t>with Deadlines and Profits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spcAft>
                <a:spcPts val="400"/>
              </a:spcAft>
              <a:defRPr sz="2000" b="0">
                <a:solidFill>
                  <a:srgbClr val="555555"/>
                </a:solidFill>
              </a:defRPr>
            </a:pPr>
            <a:r>
              <a:t>Design and Analysis of Algorithms — Group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555555"/>
                </a:solidFill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Job Sequencing is a classic optimization problem in computer science and operations research.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We are given n jobs, each with a deadline and a profit. The goal is to maximize total profit.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Each job takes exactly one unit of time, and only one job can run at a time.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A job earns its profit only if it completes on or before its deadline.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The Greedy approach sorts jobs by profit (descending) and assigns each to the latest available slot.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•  This greedy choice is provably optimal — it always yields the maximum possible profit.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Given:  A set of n jobs, where each job Jᵢ has: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A unique Job ID (e.g., J1, J2, …)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A Deadline dᵢ (positive integer) — the latest time unit by which the job must finish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A Profit pᵢ (non-negative) — the reward earned if the job is completed on time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endParaRPr/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Constraints: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Each job takes exactly 1 unit of time to execute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Only one job can be processed in each time slot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    •  Time slots are numbered 1, 2, …, max(dᵢ)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endParaRPr/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Objective:  Find a schedule S ⊆ {J1, …, Jn} that maximizes  Σ pᵢ  for all Jᵢ ∈ S,</a:t>
            </a:r>
          </a:p>
          <a:p>
            <a:pPr algn="l">
              <a:lnSpc>
                <a:spcPts val="2379"/>
              </a:lnSpc>
              <a:spcAft>
                <a:spcPts val="400"/>
              </a:spcAft>
              <a:defRPr sz="1700" b="0">
                <a:solidFill>
                  <a:srgbClr val="222222"/>
                </a:solidFill>
              </a:defRPr>
            </a:pPr>
            <a:r>
              <a:t>such that each scheduled job finishes within its deadline and no two jobs share a slot.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Greedy Algorithm — Logic &amp;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Sort all jobs by profit in descending order.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Determine max deadline → number of time slots.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For each job (highest profit first):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    Find the latest empty slot ≤ its deadline.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    If found → schedule the job there.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    If not → reject the job.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Sum profits of all scheduled jobs.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280160"/>
            <a:ext cx="576072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GREEDY-JOB-SEQUENCING(Jobs)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Sort Jobs by profit (descending)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max_d ← max deadline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Slots[1..max_d] ← EMPTY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FOR each job J in sorted Jobs: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FOR s ← min(J.deadline, max_d) DOWNTO 1: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IF Slots[s] == EMPTY: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  Slots[s] ← J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  scheduled ← scheduled ∪ {J}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  BREAK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IF J not placed: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    rejected ← rejected ∪ {J}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endParaRPr/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profit ← Σ p for all J in scheduled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7FDBCA"/>
                </a:solidFill>
              </a:defRPr>
            </a:pPr>
            <a:r>
              <a:t>  RETURN scheduled, rejected, profit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Flowchart</a:t>
            </a:r>
          </a:p>
        </p:txBody>
      </p:sp>
      <p:pic>
        <p:nvPicPr>
          <p:cNvPr id="3" name="Picture 2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188720"/>
            <a:ext cx="4572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Sample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555555"/>
                </a:solidFill>
              </a:defRPr>
            </a:pPr>
            <a:r>
              <a:t>Five jobs with their deadlines and profits: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92024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Job ID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2E86AB"/>
                </a:solidFill>
              </a:defRPr>
            </a:pPr>
            <a:r>
              <a:t>After sorting by profit (descending):  J1 (100) → J3 (27) → J4 (25) → J2 (19) → J5 (15)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9202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1: J1 → Slot 2 ✓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2: J3 → Slot 1 ✓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3: J4 → Rejected ✗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4: J2 → Rejected ✗</a:t>
            </a: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 Step 5: J5 → Slot 3 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Results &amp; 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1A1A2E"/>
                </a:solidFill>
              </a:defRPr>
            </a:pPr>
            <a:r>
              <a:t>Optimal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Slot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Job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J5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840480"/>
            <a:ext cx="41148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★  Maximum Total Profit:  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C0392B"/>
                </a:solidFill>
              </a:defRPr>
            </a:pPr>
            <a:r>
              <a:t>Rejected Jobs:  J4, J2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1A1A2E"/>
                </a:solidFill>
              </a:defRPr>
            </a:pPr>
            <a:r>
              <a:t>Time &amp; Space Complexity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Sorting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log n)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Scheduling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× 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Overall Time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× d)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O(n + 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206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n = number of jobs,  d = maximum deadline.</a:t>
            </a:r>
          </a:p>
          <a:p>
            <a:pPr algn="l"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Can be optimized to O(n log n) using Union-Find.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  Conclusion &amp;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Greedy Strategy — Learned that choosing the highest-profit job first and assigning it to the latest available slot yields a provably optimal solution.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Scheduling Fundamentals — Understood how to model real-world scheduling constraints (deadlines, limited time slots) as an algorithmic problem.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Slot-Based Assignment — Practiced assigning tasks to the latest feasible slot, preserving flexibility for subsequent jobs.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Complexity Awareness — Analyzed O(n × d) time and O(d) space, and learned about Union-Find optimization to achieve near-linear time.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Input Validation — Implemented robust checks for invalid data (negative deadlines, non-numeric profits, empty inputs).</a:t>
            </a:r>
          </a:p>
          <a:p>
            <a:pPr>
              <a:lnSpc>
                <a:spcPts val="2550"/>
              </a:lnSpc>
              <a:spcBef>
                <a:spcPts val="600"/>
              </a:spcBef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•  Verified Correctness — Confirmed the algorithm produces the expected optimal profit of 142 for the given five-job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555555"/>
                </a:solidFill>
              </a:defRPr>
            </a:pPr>
            <a:r>
              <a:t>Design and Analysis of Algorithms — DAA-538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0/1 Knapsack using Dynamic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  <a:latin typeface="Calibri"/>
              </a:defRPr>
            </a:pPr>
            <a:r>
              <a:t>DAA Macro Project — Group 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99"/>
            </a:pPr>
            <a:r>
              <a:t>Maximize the aggregate profit by selecting an optimal subset of items.</a:t>
            </a:r>
          </a:p>
          <a:p>
            <a:pPr>
              <a:defRPr sz="1999"/>
            </a:pPr>
            <a:r>
              <a:t>Each item can be selected at most once (0/1 decision variable).</a:t>
            </a:r>
          </a:p>
          <a:p>
            <a:pPr>
              <a:defRPr sz="1999"/>
            </a:pPr>
            <a:r>
              <a:t>Maximum Knapsack capacity W = 10.</a:t>
            </a:r>
          </a:p>
          <a:p>
            <a:pPr>
              <a:defRPr sz="1999"/>
            </a:pPr>
            <a:r>
              <a:t>The project uses 4 distinct items with specified weights and profits.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99"/>
            </a:pPr>
            <a:r>
              <a:t>Item 1: Weight = 1, Profit = 10</a:t>
            </a:r>
          </a:p>
          <a:p>
            <a:pPr>
              <a:defRPr sz="1999"/>
            </a:pPr>
            <a:r>
              <a:t>Item 2: Weight = 2, Profit = 20</a:t>
            </a:r>
          </a:p>
          <a:p>
            <a:pPr>
              <a:defRPr sz="1999"/>
            </a:pPr>
            <a:r>
              <a:t>Item 3: Weight = 4, Profit = 35</a:t>
            </a:r>
          </a:p>
          <a:p>
            <a:pPr>
              <a:defRPr sz="1999"/>
            </a:pPr>
            <a:r>
              <a:t>Item 4: Weight = 5, Profit = 45</a:t>
            </a:r>
          </a:p>
          <a:p>
            <a:pPr>
              <a:defRPr sz="1999"/>
            </a:pPr>
            <a:r>
              <a:t>Objective: Find the subset maximizing profit without exceeding capacity W = 10.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Programming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99"/>
            </a:pPr>
            <a:r>
              <a:t>Construct table dp[i][w] storing optimal profit for first i items and capacity w.</a:t>
            </a:r>
          </a:p>
          <a:p>
            <a:pPr>
              <a:defRPr sz="1999"/>
            </a:pPr>
            <a:r>
              <a:t>For each item, evaluate choice between excluding or including the item.</a:t>
            </a:r>
          </a:p>
          <a:p>
            <a:pPr>
              <a:defRPr sz="1999"/>
            </a:pPr>
            <a:r>
              <a:t>Recurrence: dp[i][w] = max(dp[i-1][w], profit[i-1] + dp[i-1][w - weight[i-1]]).</a:t>
            </a:r>
          </a:p>
          <a:p>
            <a:pPr>
              <a:defRPr sz="1999"/>
            </a:pPr>
            <a:r>
              <a:t>Backtrack from dp[n][W] through the table to identify the selected items.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 Table Visualization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3" y="1188690"/>
            <a:ext cx="10881087" cy="54380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99"/>
            </a:pPr>
            <a:r>
              <a:t>Maximum Profit = 90</a:t>
            </a:r>
          </a:p>
          <a:p>
            <a:pPr>
              <a:defRPr sz="1999"/>
            </a:pPr>
            <a:r>
              <a:t>Selected Items = 1, 3, 4</a:t>
            </a:r>
          </a:p>
          <a:p>
            <a:pPr>
              <a:defRPr sz="1999"/>
            </a:pPr>
            <a:r>
              <a:t>Total Weight = 10 / 10</a:t>
            </a:r>
          </a:p>
          <a:p>
            <a:pPr>
              <a:defRPr sz="1999"/>
            </a:pPr>
            <a:r>
              <a:t>Time Complexity: O(n * W) = O(4 * 10) = 40 operations</a:t>
            </a:r>
          </a:p>
          <a:p>
            <a:pPr>
              <a:defRPr sz="1999"/>
            </a:pPr>
            <a:r>
              <a:t>Space Complexity: O(n * W) auxiliary table space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99"/>
            </a:pPr>
            <a:r>
              <a:t>Understood bottom-up tabular Dynamic Programming for 0/1 Knapsack.</a:t>
            </a:r>
          </a:p>
          <a:p>
            <a:pPr>
              <a:defRPr sz="1999"/>
            </a:pPr>
            <a:r>
              <a:t>Learned how subproblems are formulated and stored in a DP matrix.</a:t>
            </a:r>
          </a:p>
          <a:p>
            <a:pPr>
              <a:defRPr sz="1999"/>
            </a:pPr>
            <a:r>
              <a:t>Understood item inclusion/exclusion state transitions and backtracking.</a:t>
            </a:r>
          </a:p>
          <a:p>
            <a:pPr>
              <a:defRPr sz="1999"/>
            </a:pPr>
            <a:r>
              <a:t>Completed implementation, prompt engineering, and visual verification.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Sum of Subsets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BBDEFB"/>
                </a:solidFill>
                <a:latin typeface="Calibri"/>
              </a:defRPr>
            </a:pPr>
            <a:r>
              <a:t>Using Backtracking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3192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Design and Analysis of Algorithms (DAA) — Group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the Sum of Subsets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Given a set of positive integers and a target sum,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find ALL subsets whose elements add up exactly to the target.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    Set  S = { 5, 10, 12 }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    Target Sum  M = 15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Question: Which subsets of S sum to exactly 15?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This is a classic combinatorial search problem.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It appears in cryptography, resource allocation, and scheduling.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5212080"/>
            <a:ext cx="5760720" cy="6400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91840" y="52578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8A3A"/>
                </a:solidFill>
                <a:latin typeface="Calibri"/>
              </a:defRPr>
            </a:pPr>
            <a:r>
              <a:t>Answer:  { 5, 10 }  →  5 + 10 = 15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Backtracking?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Backtracking is a systematic trial-and-error technique.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Build a solution step by step (depth-first).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At each step, make a CHOICE (include or exclude an element).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If the choice leads to a dead end → UNDO it (backtrack).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If the partial sum already exceeds the target → PRUNE that branch.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Why use it here?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   – A brute-force approach checks all 2ⁿ subsets.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   – Backtracking PRUNES branches early, reducing work.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Key idea:  Don't explore paths that can never lead to a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Algorithm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1.  Initialize the set S = {5, 10, 12} and target sum M = 15.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2.  Start with an empty subset { } and current sum = 0.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3.  Pick the next element from S.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4.  Branch into two choices: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 a)  Include the element  → add its value to current sum.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 b)  Exclude the element  → keep current sum unchanged.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5.  If current sum == M  →  record subset as a VALID SOLUTION.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6.  If current sum &gt; M   →  PRUNE the branch (stop exploring).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7.  Recurse for the remaining elements.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8.  After exploring "Include", backtrack (remove the element)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and explore "Exclude".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9.  Stop when all elements have been considered.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Pseudocode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860712" cy="5440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24128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onsolas"/>
              </a:defRPr>
            </a:pPr>
            <a:r>
              <a:rPr sz="1400" dirty="0"/>
              <a:t>FUNCTION </a:t>
            </a:r>
            <a:r>
              <a:rPr sz="1400" dirty="0" err="1"/>
              <a:t>findSubsets</a:t>
            </a:r>
            <a:r>
              <a:rPr sz="1400" dirty="0"/>
              <a:t>(index, </a:t>
            </a:r>
            <a:r>
              <a:rPr sz="1400" dirty="0" err="1"/>
              <a:t>currentSubset</a:t>
            </a:r>
            <a:r>
              <a:rPr sz="1400" dirty="0"/>
              <a:t>, </a:t>
            </a:r>
            <a:r>
              <a:rPr sz="1400" dirty="0" err="1"/>
              <a:t>currentSum</a:t>
            </a:r>
            <a:r>
              <a:rPr sz="1400" dirty="0"/>
              <a:t>, </a:t>
            </a:r>
            <a:r>
              <a:rPr sz="1400" dirty="0" err="1"/>
              <a:t>targetSum</a:t>
            </a:r>
            <a:r>
              <a:rPr sz="1400" dirty="0"/>
              <a:t>, S):</a:t>
            </a:r>
            <a:br>
              <a:rPr sz="1400" dirty="0"/>
            </a:br>
            <a:br>
              <a:rPr sz="1400" dirty="0"/>
            </a:br>
            <a:r>
              <a:rPr sz="1400" dirty="0"/>
              <a:t>    IF </a:t>
            </a:r>
            <a:r>
              <a:rPr sz="1400" dirty="0" err="1"/>
              <a:t>currentSum</a:t>
            </a:r>
            <a:r>
              <a:rPr sz="1400" dirty="0"/>
              <a:t> == </a:t>
            </a:r>
            <a:r>
              <a:rPr sz="1400" dirty="0" err="1"/>
              <a:t>targetSum</a:t>
            </a:r>
            <a:r>
              <a:rPr sz="1400" dirty="0"/>
              <a:t> THEN</a:t>
            </a:r>
            <a:br>
              <a:rPr sz="1400" dirty="0"/>
            </a:br>
            <a:r>
              <a:rPr sz="1400" dirty="0"/>
              <a:t>        PRINT </a:t>
            </a:r>
            <a:r>
              <a:rPr sz="1400" dirty="0" err="1"/>
              <a:t>currentSubset</a:t>
            </a:r>
            <a:r>
              <a:rPr sz="1400" dirty="0"/>
              <a:t>          ← Solution found!</a:t>
            </a:r>
            <a:br>
              <a:rPr sz="1400" dirty="0"/>
            </a:br>
            <a:r>
              <a:rPr sz="1400" dirty="0"/>
              <a:t>        RETURN</a:t>
            </a:r>
            <a:br>
              <a:rPr sz="1400" dirty="0"/>
            </a:br>
            <a:br>
              <a:rPr sz="1400" dirty="0"/>
            </a:br>
            <a:r>
              <a:rPr sz="1400" dirty="0"/>
              <a:t>    IF </a:t>
            </a:r>
            <a:r>
              <a:rPr sz="1400" dirty="0" err="1"/>
              <a:t>currentSum</a:t>
            </a:r>
            <a:r>
              <a:rPr sz="1400" dirty="0"/>
              <a:t> &gt; </a:t>
            </a:r>
            <a:r>
              <a:rPr sz="1400" dirty="0" err="1"/>
              <a:t>targetSum</a:t>
            </a:r>
            <a:r>
              <a:rPr sz="1400" dirty="0"/>
              <a:t> THEN</a:t>
            </a:r>
            <a:br>
              <a:rPr sz="1400" dirty="0"/>
            </a:br>
            <a:r>
              <a:rPr sz="1400" dirty="0"/>
              <a:t>        RETURN                       ← Prune (bounding function)</a:t>
            </a:r>
            <a:br>
              <a:rPr sz="1400" dirty="0"/>
            </a:br>
            <a:br>
              <a:rPr sz="1400" dirty="0"/>
            </a:br>
            <a:r>
              <a:rPr sz="1400" dirty="0"/>
              <a:t>    IF index &gt;= LENGTH(S) THEN</a:t>
            </a:r>
            <a:br>
              <a:rPr sz="1400" dirty="0"/>
            </a:br>
            <a:r>
              <a:rPr sz="1400" dirty="0"/>
              <a:t>        RETURN                       ← All elements considered</a:t>
            </a:r>
            <a:br>
              <a:rPr sz="1400" dirty="0"/>
            </a:br>
            <a:br>
              <a:rPr sz="1400" dirty="0"/>
            </a:br>
            <a:r>
              <a:rPr sz="1400" dirty="0"/>
              <a:t>    // Choice 1: INCLUDE S[index]</a:t>
            </a:r>
            <a:br>
              <a:rPr sz="1400" dirty="0"/>
            </a:br>
            <a:r>
              <a:rPr sz="1400" dirty="0"/>
              <a:t>    ADD S[index] to </a:t>
            </a:r>
            <a:r>
              <a:rPr sz="1400" dirty="0" err="1"/>
              <a:t>currentSubset</a:t>
            </a:r>
            <a:br>
              <a:rPr sz="1400" dirty="0"/>
            </a:br>
            <a:r>
              <a:rPr sz="1400" dirty="0"/>
              <a:t>    </a:t>
            </a:r>
            <a:r>
              <a:rPr sz="1400" dirty="0" err="1"/>
              <a:t>findSubsets</a:t>
            </a:r>
            <a:r>
              <a:rPr sz="1400" dirty="0"/>
              <a:t>(index + 1, </a:t>
            </a:r>
            <a:r>
              <a:rPr sz="1400" dirty="0" err="1"/>
              <a:t>currentSubset</a:t>
            </a:r>
            <a:r>
              <a:rPr sz="1400" dirty="0"/>
              <a:t>, </a:t>
            </a:r>
            <a:r>
              <a:rPr sz="1400" dirty="0" err="1"/>
              <a:t>currentSum</a:t>
            </a:r>
            <a:r>
              <a:rPr sz="1400" dirty="0"/>
              <a:t> + S[index], </a:t>
            </a:r>
            <a:r>
              <a:rPr sz="1400" dirty="0" err="1"/>
              <a:t>targetSum</a:t>
            </a:r>
            <a:r>
              <a:rPr sz="1400" dirty="0"/>
              <a:t>, S)</a:t>
            </a:r>
            <a:br>
              <a:rPr sz="1400" dirty="0"/>
            </a:br>
            <a:br>
              <a:rPr sz="1400" dirty="0"/>
            </a:br>
            <a:r>
              <a:rPr sz="1400" dirty="0"/>
              <a:t>    // Backtrack: UNDO inclusion</a:t>
            </a:r>
            <a:br>
              <a:rPr sz="1400" dirty="0"/>
            </a:br>
            <a:r>
              <a:rPr sz="1400" dirty="0"/>
              <a:t>    REMOVE last element from </a:t>
            </a:r>
            <a:r>
              <a:rPr sz="1400" dirty="0" err="1"/>
              <a:t>currentSubset</a:t>
            </a:r>
            <a:br>
              <a:rPr sz="1400" dirty="0"/>
            </a:br>
            <a:br>
              <a:rPr sz="1400" dirty="0"/>
            </a:br>
            <a:r>
              <a:rPr sz="1400" dirty="0"/>
              <a:t>    // Choice 2: EXCLUDE S[index]</a:t>
            </a:r>
            <a:br>
              <a:rPr sz="1400" dirty="0"/>
            </a:br>
            <a:r>
              <a:rPr sz="1400" dirty="0"/>
              <a:t>    </a:t>
            </a:r>
            <a:r>
              <a:rPr sz="1400" dirty="0" err="1"/>
              <a:t>findSubsets</a:t>
            </a:r>
            <a:r>
              <a:rPr sz="1400" dirty="0"/>
              <a:t>(index + 1, </a:t>
            </a:r>
            <a:r>
              <a:rPr sz="1400" dirty="0" err="1"/>
              <a:t>currentSubset</a:t>
            </a:r>
            <a:r>
              <a:rPr sz="1400" dirty="0"/>
              <a:t>, </a:t>
            </a:r>
            <a:r>
              <a:rPr sz="1400" dirty="0" err="1"/>
              <a:t>currentSum</a:t>
            </a:r>
            <a:r>
              <a:rPr sz="1400" dirty="0"/>
              <a:t>, </a:t>
            </a:r>
            <a:r>
              <a:rPr sz="1400" dirty="0" err="1"/>
              <a:t>targetSum</a:t>
            </a:r>
            <a:r>
              <a:rPr sz="1400" dirty="0"/>
              <a:t>, S)</a:t>
            </a:r>
            <a:br>
              <a:rPr sz="1400" dirty="0"/>
            </a:br>
            <a:br>
              <a:rPr sz="1400" dirty="0"/>
            </a:br>
            <a:r>
              <a:rPr sz="1400" dirty="0"/>
              <a:t>CALL </a:t>
            </a:r>
            <a:r>
              <a:rPr sz="1400" dirty="0" err="1"/>
              <a:t>findSubsets</a:t>
            </a:r>
            <a:r>
              <a:rPr sz="1400" dirty="0"/>
              <a:t>(0, { }, 0, 15, {5, 10, 12})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Dry Run — Tracing 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Call findSubsets(0, { }, 0) — start with empty subset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► Include 5  →  findSubsets(1, {5}, 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Include 10  →  findSubsets(2, {5,10}, 15)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currentSum == 15  →  ✅ SOLUTION FOUND: {5, 10}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Exclude 10  →  findSubsets(2, {5}, 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► Include 12  →  findSubsets(3, {5,12}, 17)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17 &gt; 15  →  ❌ PRUNED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► Exclude 12  →  findSubsets(3, {5}, 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End of set, 5 ≠ 15  →  Unsuccessful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► Exclude 5  →  findSubsets(1, { }, 0)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Include 10 → {10}, sum=10 → Include 12 → {10,12}, sum=22 → ❌ PRUNED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                 → Exclude 12 → {10}, sum=10 → Unsuccessful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Exclude 10 → { }, sum=0  → Include 12 → {12}, sum=12 → Unsuccessful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                → Exclude 12 → { }, sum=0  → Unsuccessful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State Space Tree — Visualization</a:t>
            </a:r>
          </a:p>
        </p:txBody>
      </p:sp>
      <p:pic>
        <p:nvPicPr>
          <p:cNvPr id="4" name="Picture 3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234440"/>
            <a:ext cx="109728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the State Space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51560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Root Node (Level 0):  { }, Sum = 0  — starting point.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Level 1 — Decision on element 5: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Include 5 → {5}, Sum = 5     |     Exclude 5 → { }, Sum = 0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Level 2 — Decision on element 10: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{5} + Include 10 → {5,10}, Sum = 15   ✅ TARGET REACHED!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Level 3 — Decision on element 12 (leaf nodes):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🟢  GREEN nodes → Valid solution (sum == 15):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        {5, 10}  with sum = 15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🔴  RED nodes → Pruned branches (sum &gt; 15):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        {5,10,12}=27   {5,12}=17   {10,12}=22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⬜  GRAY nodes → Unsuccessful leaves (sum &lt; 15):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rPr dirty="0"/>
              <a:t>           {5}=5   {10}=10   {12}=12   { }=0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 &amp; Complexity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B8A3A"/>
                </a:solidFill>
                <a:latin typeface="Calibri"/>
              </a:defRPr>
            </a:pPr>
            <a:r>
              <a:t>Result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Valid subset found:  { 5, 10 }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Sum:  5 + 10 = 15  ✓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Total valid subsets: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C62828"/>
                </a:solidFill>
                <a:latin typeface="Calibri"/>
              </a:defRPr>
            </a:pPr>
            <a:r>
              <a:t>Why is {12} not a solution?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12 ≠ 15  →  does not meet target.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900" b="1">
                <a:solidFill>
                  <a:srgbClr val="C62828"/>
                </a:solidFill>
                <a:latin typeface="Calibri"/>
              </a:defRPr>
            </a:pPr>
            <a:r>
              <a:t>Why prune branches &gt; 15?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All elements are positive — adding more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can only increase the sum further.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59"/>
            <a:ext cx="10789920" cy="2583917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83E9A"/>
                </a:solidFill>
                <a:latin typeface="Calibri"/>
              </a:defRPr>
            </a:pPr>
            <a:r>
              <a:t>Time Complexity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Worst case:  O(2ⁿ)  — every subset is explored.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With pruning:  significantly fewer nodes are visited.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For n = 3:  total possible subsets = 2³ = 8;  pruned branches = 3  →  only 5 leaf evaluations needed.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Space Complexity:  O(n)  — recursion stack depth equals number of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Learning Outcomes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283E9A"/>
                </a:solidFill>
                <a:latin typeface="Calibri"/>
              </a:defRPr>
            </a:pPr>
            <a:r>
              <a:t>Learning Outcomes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1.  Understood the concept of backtracking and recursion.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2.  Learned how to construct and interpret a state space tree.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3.  Understood how include/exclude decisions generate all subsets.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4.  Learned how pruning (bounding functions) improve efficiency.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5.  Practiced documenting a project with README and visualizations.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Conclusion:  Backtracking is a powerful technique for solving combinatorial problems like Sum of Subsets. By systematically exploring include/exclude decisions and pruning branches that exceed the target, it finds all valid solutions efficiently without exhaustively checking every possibility.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548640"/>
            <a:ext cx="3749039" cy="411480"/>
          </a:xfrm>
          <a:prstGeom prst="roundRect">
            <a:avLst/>
          </a:prstGeom>
          <a:solidFill>
            <a:srgbClr val="283593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4B5F6"/>
                </a:solidFill>
                <a:latin typeface="Calibri"/>
              </a:defRPr>
            </a:pPr>
            <a:r>
              <a:t>DESIGN AND ANALYSIS OF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DAA MACRO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148840"/>
            <a:ext cx="4480560" cy="73152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237E"/>
                </a:solidFill>
                <a:latin typeface="Calibri"/>
              </a:defRPr>
            </a:pPr>
            <a:r>
              <a:t>GROUP —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CFD8DC"/>
                </a:solidFill>
                <a:latin typeface="Calibri"/>
              </a:defRPr>
            </a:pPr>
            <a:r>
              <a:t>B.Tech Computer Science &amp; Engineering — Comprehensive Unit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520440"/>
            <a:ext cx="7619695" cy="2743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2468880" cy="2468880"/>
          </a:xfrm>
          <a:prstGeom prst="roundRect">
            <a:avLst/>
          </a:prstGeom>
          <a:solidFill>
            <a:srgbClr val="283593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54F"/>
                </a:solidFill>
                <a:latin typeface="Calibri"/>
              </a:defRPr>
            </a:pPr>
            <a:r>
              <a:t>UNIT 1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Asymptotic Analysis</a:t>
            </a:r>
          </a:p>
          <a:p>
            <a:pPr algn="ctr">
              <a:spcBef>
                <a:spcPts val="800"/>
              </a:spcBef>
              <a:defRPr sz="1300">
                <a:solidFill>
                  <a:srgbClr val="CFD8DC"/>
                </a:solidFill>
                <a:latin typeface="Calibri"/>
              </a:defRPr>
            </a:pPr>
            <a:r>
              <a:t>Big-O, Ω, Θ Notations</a:t>
            </a:r>
            <a:br/>
            <a:r>
              <a:t>Growth Rate Curves</a:t>
            </a:r>
            <a:br/>
            <a:r>
              <a:t>Semi-Log Scale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794760"/>
            <a:ext cx="2468880" cy="2468880"/>
          </a:xfrm>
          <a:prstGeom prst="roundRect">
            <a:avLst/>
          </a:prstGeom>
          <a:solidFill>
            <a:srgbClr val="283593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54F"/>
                </a:solidFill>
                <a:latin typeface="Calibri"/>
              </a:defRPr>
            </a:pPr>
            <a:r>
              <a:t>UNIT 2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Greedy Job Sequencing</a:t>
            </a:r>
          </a:p>
          <a:p>
            <a:pPr algn="ctr">
              <a:spcBef>
                <a:spcPts val="800"/>
              </a:spcBef>
              <a:defRPr sz="1300">
                <a:solidFill>
                  <a:srgbClr val="CFD8DC"/>
                </a:solidFill>
                <a:latin typeface="Calibri"/>
              </a:defRPr>
            </a:pPr>
            <a:r>
              <a:t>Deadlines &amp; Profits</a:t>
            </a:r>
            <a:br/>
            <a:r>
              <a:t>Greedy Optimal Strategy</a:t>
            </a:r>
            <a:br/>
            <a:r>
              <a:t>Decision Flowchart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2468880" cy="2468880"/>
          </a:xfrm>
          <a:prstGeom prst="roundRect">
            <a:avLst/>
          </a:prstGeom>
          <a:solidFill>
            <a:srgbClr val="283593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54F"/>
                </a:solidFill>
                <a:latin typeface="Calibri"/>
              </a:defRPr>
            </a:pPr>
            <a:r>
              <a:t>UNIT 3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0/1 Knapsack Problem</a:t>
            </a:r>
          </a:p>
          <a:p>
            <a:pPr algn="ctr">
              <a:spcBef>
                <a:spcPts val="800"/>
              </a:spcBef>
              <a:defRPr sz="1300">
                <a:solidFill>
                  <a:srgbClr val="CFD8DC"/>
                </a:solidFill>
                <a:latin typeface="Calibri"/>
              </a:defRPr>
            </a:pPr>
            <a:r>
              <a:t>Dynamic Programming</a:t>
            </a:r>
            <a:br/>
            <a:r>
              <a:t>Optimal Substructure</a:t>
            </a:r>
            <a:br/>
            <a:r>
              <a:t>Table State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794760"/>
            <a:ext cx="2468880" cy="2468880"/>
          </a:xfrm>
          <a:prstGeom prst="roundRect">
            <a:avLst/>
          </a:prstGeom>
          <a:solidFill>
            <a:srgbClr val="283593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54F"/>
                </a:solidFill>
                <a:latin typeface="Calibri"/>
              </a:defRPr>
            </a:pPr>
            <a:r>
              <a:t>UNIT 4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Sum of Subsets Problem</a:t>
            </a:r>
          </a:p>
          <a:p>
            <a:pPr algn="ctr">
              <a:spcBef>
                <a:spcPts val="800"/>
              </a:spcBef>
              <a:defRPr sz="1300">
                <a:solidFill>
                  <a:srgbClr val="CFD8DC"/>
                </a:solidFill>
                <a:latin typeface="Calibri"/>
              </a:defRPr>
            </a:pPr>
            <a:r>
              <a:t>Backtracking Technique</a:t>
            </a:r>
            <a:br/>
            <a:r>
              <a:t>State Space Search Tree</a:t>
            </a:r>
            <a:br/>
            <a:r>
              <a:t>Early Branch Pruning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3845</Words>
  <Application>Microsoft Office PowerPoint</Application>
  <PresentationFormat>Widescreen</PresentationFormat>
  <Paragraphs>342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0/1 Knapsack using Dynamic Programming</vt:lpstr>
      <vt:lpstr>Problem Statement</vt:lpstr>
      <vt:lpstr>Input and Objective</vt:lpstr>
      <vt:lpstr>Dynamic Programming Approach</vt:lpstr>
      <vt:lpstr>DP Table Visualization</vt:lpstr>
      <vt:lpstr>Result and Complexity</vt:lpstr>
      <vt:lpstr>Learning Outcome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aileni krishnasahithi</cp:lastModifiedBy>
  <cp:revision>2</cp:revision>
  <dcterms:created xsi:type="dcterms:W3CDTF">2013-01-27T09:14:16Z</dcterms:created>
  <dcterms:modified xsi:type="dcterms:W3CDTF">2026-10-22T06:39:01Z</dcterms:modified>
  <cp:category/>
</cp:coreProperties>
</file>