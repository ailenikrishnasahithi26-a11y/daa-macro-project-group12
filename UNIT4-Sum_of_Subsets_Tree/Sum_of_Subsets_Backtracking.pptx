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Sum of Subsets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BBDEFB"/>
                </a:solidFill>
                <a:latin typeface="Calibri"/>
              </a:defRPr>
            </a:pPr>
            <a:r>
              <a:t>Using Backtracking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93192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Design and Analysis of Algorithms (DAA)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B.Tech CSE — Mini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the Sum of Subsets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Given a set of positive integers and a target sum,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find ALL subsets whose elements add up exactly to the target.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    Set  S = { 5, 10, 12 }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    Target Sum  M = 15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Question: Which subsets of S sum to exactly 15?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This is a classic combinatorial search problem.</a:t>
            </a:r>
          </a:p>
          <a:p>
            <a:pPr>
              <a:spcAft>
                <a:spcPts val="6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It appears in cryptography, resource allocation, and scheduling.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5212080"/>
            <a:ext cx="5760720" cy="6400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52578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8A3A"/>
                </a:solidFill>
                <a:latin typeface="Calibri"/>
              </a:defRPr>
            </a:pPr>
            <a:r>
              <a:t>Answer:  { 5, 10 }  →  5 + 10 = 15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Backtracking?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Backtracking is a systematic trial-and-error technique.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Build a solution step by step (depth-first).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At each step, make a CHOICE (include or exclude an element).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If the choice leads to a dead end → UNDO it (backtrack).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• If the partial sum already exceeds the target → PRUNE that branch.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Why use it here?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   – A brute-force approach checks all 2ⁿ subsets.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   – Backtracking PRUNES branches early, reducing work.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Key idea:  Don't explore paths that can never lead to a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Algorithm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1.  Initialize the set S = {5, 10, 12} and target sum M = 15.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2.  Start with an empty subset { } and current sum = 0.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3.  Pick the next element from S.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4.  Branch into two choices: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 a)  Include the element  → add its value to current sum.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 b)  Exclude the element  → keep current sum unchanged.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5.  If current sum == M  →  record subset as a VALID SOLUTION.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6.  If current sum &gt; M   →  PRUNE the branch (stop exploring).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7.  Recurse for the remaining elements.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8.  After exploring "Include", backtrack (remove the element)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and explore "Exclude".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9.  Stop when all elements have been considered.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Pseudocode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500">
                <a:solidFill>
                  <a:srgbClr val="333333"/>
                </a:solidFill>
                <a:latin typeface="Consolas"/>
              </a:defRPr>
            </a:pPr>
            <a:r>
              <a:t>FUNCTION findSubsets(index, currentSubset, currentSum, targetSum, S):</a:t>
            </a:r>
            <a:br/>
            <a:br/>
            <a:r>
              <a:t>    IF currentSum == targetSum THEN</a:t>
            </a:r>
            <a:br/>
            <a:r>
              <a:t>        PRINT currentSubset          ← Solution found!</a:t>
            </a:r>
            <a:br/>
            <a:r>
              <a:t>        RETURN</a:t>
            </a:r>
            <a:br/>
            <a:br/>
            <a:r>
              <a:t>    IF currentSum &gt; targetSum THEN</a:t>
            </a:r>
            <a:br/>
            <a:r>
              <a:t>        RETURN                       ← Prune (bounding function)</a:t>
            </a:r>
            <a:br/>
            <a:br/>
            <a:r>
              <a:t>    IF index &gt;= LENGTH(S) THEN</a:t>
            </a:r>
            <a:br/>
            <a:r>
              <a:t>        RETURN                       ← All elements considered</a:t>
            </a:r>
            <a:br/>
            <a:br/>
            <a:r>
              <a:t>    // Choice 1: INCLUDE S[index]</a:t>
            </a:r>
            <a:br/>
            <a:r>
              <a:t>    ADD S[index] to currentSubset</a:t>
            </a:r>
            <a:br/>
            <a:r>
              <a:t>    findSubsets(index + 1, currentSubset, currentSum + S[index], targetSum, S)</a:t>
            </a:r>
            <a:br/>
            <a:br/>
            <a:r>
              <a:t>    // Backtrack: UNDO inclusion</a:t>
            </a:r>
            <a:br/>
            <a:r>
              <a:t>    REMOVE last element from currentSubset</a:t>
            </a:r>
            <a:br/>
            <a:br/>
            <a:r>
              <a:t>    // Choice 2: EXCLUDE S[index]</a:t>
            </a:r>
            <a:br/>
            <a:r>
              <a:t>    findSubsets(index + 1, currentSubset, currentSum, targetSum, S)</a:t>
            </a:r>
            <a:br/>
            <a:br/>
            <a:r>
              <a:t>CALL findSubsets(0, { }, 0, 15, {5, 10, 12})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Dry Run — Tracing 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Call findSubsets(0, { }, 0) — start with empty subset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► Include 5  →  findSubsets(1,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Include 10  →  findSubsets(2, {5,10}, 15)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currentSum == 15  →  ✅ SOLUTION FOUND: {5, 10}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Exclude 10  →  findSubsets(2,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► Include 12  →  findSubsets(3, {5,12}, 17)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17 &gt; 15  →  ❌ PRUNED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► Exclude 12  →  findSubsets(3, {5}, 5)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End of set, 5 ≠ 15  → 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► Exclude 5  →  findSubsets(1, { }, 0)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Include 10 → {10}, sum=10 → Include 12 → {10,12}, sum=22 → ❌ PRUNED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                 → Exclude 12 → {10}, sum=10 →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► Exclude 10 → { }, sum=0  → Include 12 → {12}, sum=12 → Unsuccessful</a:t>
            </a:r>
          </a:p>
          <a:p>
            <a:pPr>
              <a:spcAft>
                <a:spcPts val="300"/>
              </a:spcAft>
              <a:defRPr sz="1700" b="0">
                <a:solidFill>
                  <a:srgbClr val="333333"/>
                </a:solidFill>
                <a:latin typeface="Consolas"/>
              </a:defRPr>
            </a:pPr>
            <a:r>
              <a:t>                                  → Exclude 12 → { }, sum=0  → Unsuccessful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State Space Tree — Visualization</a:t>
            </a:r>
          </a:p>
        </p:txBody>
      </p:sp>
      <p:pic>
        <p:nvPicPr>
          <p:cNvPr id="4" name="Picture 3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234440"/>
            <a:ext cx="109728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State Space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Root Node (Level 0):  { }, Sum = 0  — starting point.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Level 1 — Decision on element 5: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Include 5 → {5}, Sum = 5     |     Exclude 5 → { }, Sum = 0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Level 2 — Decision on element 10: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{5} + Include 10 → {5,10}, Sum = 15   ✅ TARGET REACHED!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Level 3 — Decision on element 12 (leaf nodes):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🟢  GREEN nodes → Valid solution (sum ==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        {5, 10}  with sum = 15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🔴  RED nodes → Pruned branches (sum &gt;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        {5,10,12}=27   {5,12}=17   {10,12}=22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⬜  GRAY nodes → Unsuccessful leaves (sum &lt; 15):</a:t>
            </a:r>
          </a:p>
          <a:p>
            <a:pPr>
              <a:spcAft>
                <a:spcPts val="3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           {5}=5   {10}=10   {12}=12   { }=0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 &amp; Complexity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B8A3A"/>
                </a:solidFill>
                <a:latin typeface="Calibri"/>
              </a:defRPr>
            </a:pPr>
            <a:r>
              <a:t>Result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Valid subset found:  { 5, 10 }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Sum:  5 + 10 = 15  ✓</a:t>
            </a:r>
          </a:p>
          <a:p>
            <a:pPr>
              <a:spcAft>
                <a:spcPts val="5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Total valid subsets: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C62828"/>
                </a:solidFill>
                <a:latin typeface="Calibri"/>
              </a:defRPr>
            </a:pPr>
            <a:r>
              <a:t>Why is {12} not a solution?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12 ≠ 15  →  does not meet target.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C62828"/>
                </a:solidFill>
                <a:latin typeface="Calibri"/>
              </a:defRPr>
            </a:pPr>
            <a:r>
              <a:t>Why prune branches &gt; 15?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All elements are positive — adding more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can only increase the sum further.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283E9A"/>
                </a:solidFill>
                <a:latin typeface="Calibri"/>
              </a:defRPr>
            </a:pPr>
            <a:r>
              <a:t>Time Complexity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Worst case:  O(2ⁿ)  — every subset is explored.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With pruning:  significantly fewer nodes are visited.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For n = 3:  total possible subsets = 2³ = 8;  pruned branches = 3  →  only 5 leaf evaluations needed.</a:t>
            </a: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333333"/>
                </a:solidFill>
                <a:latin typeface="Calibri"/>
              </a:defRPr>
            </a:pPr>
            <a:r>
              <a:t>Space Complexity:  O(n)  — recursion stack depth equals number of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Learning Outcomes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283E9A"/>
                </a:solidFill>
                <a:latin typeface="Calibri"/>
              </a:defRPr>
            </a:pPr>
            <a:r>
              <a:t>Learning Outcomes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1.  Understood the concept of backtracking and recursion.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2.  Learned how to construct and interpret a state space tree.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3.  Understood how include/exclude decisions generate all subsets.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4.  Learned how pruning (bounding functions) improve efficiency.</a:t>
            </a:r>
          </a:p>
          <a:p>
            <a:pPr>
              <a:spcAft>
                <a:spcPts val="500"/>
              </a:spcAft>
              <a:defRPr sz="2100" b="0">
                <a:solidFill>
                  <a:srgbClr val="333333"/>
                </a:solidFill>
                <a:latin typeface="Calibri"/>
              </a:defRPr>
            </a:pPr>
            <a:r>
              <a:t>5.  Practiced documenting a project with README and visualizations.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Conclusion:  Backtracking is a powerful technique for solving combinatorial problems like Sum of Subsets. By systematically exploring include/exclude decisions and pruning branches that exceed the target, it finds all valid solutions efficiently without exhaustively checking every 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