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782" y="2130371"/>
            <a:ext cx="7772205" cy="146998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565" y="3886102"/>
            <a:ext cx="6400639" cy="175255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188" y="274631"/>
            <a:ext cx="8229394" cy="11429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88" y="1600159"/>
            <a:ext cx="8229394" cy="45258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188" y="6356190"/>
            <a:ext cx="2133546" cy="3651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9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121" y="6356190"/>
            <a:ext cx="2895527" cy="3651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9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036" y="6356190"/>
            <a:ext cx="2133546" cy="3651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9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</p:sldLayoutIdLst>
  <p:txStyles>
    <p:titleStyle>
      <a:lvl1pPr algn="ctr" defTabSz="457200" rtl="0" eaLnBrk="1" latinLnBrk="0" hangingPunct="1"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799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999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999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>
                <a:solidFill>
                  <a:srgbClr val="FFFFFF"/>
                </a:solidFill>
                <a:latin typeface="Calibri"/>
              </a:defRPr>
            </a:pPr>
            <a:r>
              <a:t>Asymptotic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>
                <a:solidFill>
                  <a:srgbClr val="64B5F6"/>
                </a:solidFill>
                <a:latin typeface="Calibri"/>
              </a:defRPr>
            </a:pPr>
            <a:r>
              <a:t>Growth Rates &amp; Notation Comparison (Unit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931920"/>
            <a:ext cx="3962095" cy="36576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Calibri"/>
              </a:defRPr>
            </a:pPr>
            <a:r>
              <a:t>Design and Analysis of Algorithms (DAA)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9204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CFD8DC"/>
                </a:solidFill>
                <a:latin typeface="Calibri"/>
              </a:defRPr>
            </a:pPr>
            <a:r>
              <a:t>B.Tech CSE — Mini Project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90CAF9"/>
                </a:solidFill>
                <a:latin typeface="Calibri"/>
              </a:defRPr>
            </a:pPr>
            <a: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is Asymptotic Analysis?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16161"/>
                </a:solidFill>
                <a:latin typeface="Calibri"/>
              </a:defRPr>
            </a:pPr>
            <a:r>
              <a:t>2/10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12121"/>
                </a:solidFill>
                <a:latin typeface="Calibri"/>
              </a:defRPr>
            </a:pPr>
            <a:r>
              <a:t>Asymptotic analysis is the mathematical evaluation of an algorithm's resource consumption (time or memory) as the input size n becomes arbitrarily large.</a:t>
            </a:r>
          </a:p>
          <a:p>
            <a:pPr>
              <a:spcBef>
                <a:spcPts val="1200"/>
              </a:spcBef>
            </a:pPr>
            <a:r>
              <a:rPr sz="1800" b="1">
                <a:solidFill>
                  <a:srgbClr val="1A237E"/>
                </a:solidFill>
              </a:rPr>
              <a:t>• Hardware Independence:</a:t>
            </a:r>
            <a:r>
              <a:rPr sz="1800">
                <a:solidFill>
                  <a:srgbClr val="212121"/>
                </a:solidFill>
              </a:rPr>
              <a:t> Execution speed varies across processors, operating systems, and compilers. Asymptotic analysis measures efficiency independently of machine specifications.</a:t>
            </a:r>
          </a:p>
          <a:p>
            <a:pPr>
              <a:spcBef>
                <a:spcPts val="1200"/>
              </a:spcBef>
            </a:pPr>
            <a:r>
              <a:rPr sz="1800" b="1">
                <a:solidFill>
                  <a:srgbClr val="1A237E"/>
                </a:solidFill>
              </a:rPr>
              <a:t>• Focus on Scalability:</a:t>
            </a:r>
            <a:r>
              <a:rPr sz="1800">
                <a:solidFill>
                  <a:srgbClr val="212121"/>
                </a:solidFill>
              </a:rPr>
              <a:t> How does the execution time scale when input n grows from 10 to 1,000,000?</a:t>
            </a:r>
          </a:p>
          <a:p>
            <a:pPr>
              <a:spcBef>
                <a:spcPts val="1200"/>
              </a:spcBef>
            </a:pPr>
            <a:r>
              <a:rPr sz="1800" b="1">
                <a:solidFill>
                  <a:srgbClr val="1A237E"/>
                </a:solidFill>
              </a:rPr>
              <a:t>• Ignoring Low-Order Terms:</a:t>
            </a:r>
            <a:r>
              <a:rPr sz="1800">
                <a:solidFill>
                  <a:srgbClr val="212121"/>
                </a:solidFill>
              </a:rPr>
              <a:t> As n approaches infinity, higher-order terms dominate, rendering smaller terms and constant multipliers negligible.</a:t>
            </a:r>
          </a:p>
          <a:p>
            <a:pPr>
              <a:spcBef>
                <a:spcPts val="1200"/>
              </a:spcBef>
            </a:pPr>
            <a:r>
              <a:rPr sz="1800" b="1">
                <a:solidFill>
                  <a:srgbClr val="1A237E"/>
                </a:solidFill>
              </a:rPr>
              <a:t>• Core Objective:</a:t>
            </a:r>
            <a:r>
              <a:rPr sz="1800">
                <a:solidFill>
                  <a:srgbClr val="212121"/>
                </a:solidFill>
              </a:rPr>
              <a:t> Compare an algorithm's complexity against standard reference families (logarithmic, linear, polynomial, exponential).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5120640"/>
            <a:ext cx="9418320" cy="822960"/>
          </a:xfrm>
          <a:prstGeom prst="roundRect">
            <a:avLst/>
          </a:prstGeom>
          <a:solidFill>
            <a:srgbClr val="EEF2FF"/>
          </a:solidFill>
          <a:ln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4A148C"/>
                </a:solidFill>
                <a:latin typeface="Calibri"/>
              </a:defRPr>
            </a:pPr>
            <a:r>
              <a:t>Key Idea: As n → ∞, the highest-order term dictates computational resource growth.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Three Fundamental Notations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16161"/>
                </a:solidFill>
                <a:latin typeface="Calibri"/>
              </a:defRPr>
            </a:pPr>
            <a:r>
              <a:t>3/10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2976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D4ED8"/>
                </a:solidFill>
              </a:defRPr>
            </a:pPr>
            <a:r>
              <a:t>Big-O Notation — O(g(n))</a:t>
            </a:r>
          </a:p>
          <a:p>
            <a:pPr>
              <a:spcBef>
                <a:spcPts val="600"/>
              </a:spcBef>
              <a:defRPr sz="1600" b="1">
                <a:solidFill>
                  <a:srgbClr val="212121"/>
                </a:solidFill>
              </a:defRPr>
            </a:pPr>
            <a:r>
              <a:t>Asymptotic Upper Bound</a:t>
            </a:r>
          </a:p>
          <a:p>
            <a:pPr>
              <a:spcBef>
                <a:spcPts val="1400"/>
              </a:spcBef>
              <a:defRPr sz="1600">
                <a:solidFill>
                  <a:srgbClr val="616161"/>
                </a:solidFill>
              </a:defRPr>
            </a:pPr>
            <a:r>
              <a:t>• Represents the worst-case ceiling.</a:t>
            </a:r>
            <a:br/>
            <a:r>
              <a:t>• Guarantees the algorithm will NEVER take more time than c·g(n) for large n.</a:t>
            </a:r>
            <a:br/>
            <a:r>
              <a:t>• Mnemonic: The Ceiling.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2976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6002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9488"/>
                </a:solidFill>
              </a:defRPr>
            </a:pPr>
            <a:r>
              <a:t>Big-Omega — Ω(g(n))</a:t>
            </a:r>
          </a:p>
          <a:p>
            <a:pPr>
              <a:spcBef>
                <a:spcPts val="600"/>
              </a:spcBef>
              <a:defRPr sz="1600" b="1">
                <a:solidFill>
                  <a:srgbClr val="212121"/>
                </a:solidFill>
              </a:defRPr>
            </a:pPr>
            <a:r>
              <a:t>Asymptotic Lower Bound</a:t>
            </a:r>
          </a:p>
          <a:p>
            <a:pPr>
              <a:spcBef>
                <a:spcPts val="1400"/>
              </a:spcBef>
              <a:defRPr sz="1600">
                <a:solidFill>
                  <a:srgbClr val="616161"/>
                </a:solidFill>
              </a:defRPr>
            </a:pPr>
            <a:r>
              <a:t>• Represents the best-case floor.</a:t>
            </a:r>
            <a:br/>
            <a:r>
              <a:t>• Guarantees the algorithm will take AT LEAST c·g(n) steps in the limit.</a:t>
            </a:r>
            <a:br/>
            <a:r>
              <a:t>• Mnemonic: The Floor.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2976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80" y="16002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Big-Theta — Θ(g(n))</a:t>
            </a:r>
          </a:p>
          <a:p>
            <a:pPr>
              <a:spcBef>
                <a:spcPts val="600"/>
              </a:spcBef>
              <a:defRPr sz="1600" b="1">
                <a:solidFill>
                  <a:srgbClr val="212121"/>
                </a:solidFill>
              </a:defRPr>
            </a:pPr>
            <a:r>
              <a:t>Asymptotically Tight Bound</a:t>
            </a:r>
          </a:p>
          <a:p>
            <a:pPr>
              <a:spcBef>
                <a:spcPts val="1400"/>
              </a:spcBef>
              <a:defRPr sz="1600">
                <a:solidFill>
                  <a:srgbClr val="616161"/>
                </a:solidFill>
              </a:defRPr>
            </a:pPr>
            <a:r>
              <a:t>• Sandwiches the function from both above and below.</a:t>
            </a:r>
            <a:br/>
            <a:r>
              <a:t>• Pinpoints the EXACT growth rate when upper and lower bounds match.</a:t>
            </a:r>
            <a:br/>
            <a:r>
              <a:t>• Mnemonic: The Exact Corridor.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Mathematical Definitions &amp; Equivalence Theorem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16161"/>
                </a:solidFill>
                <a:latin typeface="Calibri"/>
              </a:defRPr>
            </a:pPr>
            <a:r>
              <a:t>4/10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237E"/>
                </a:solidFill>
              </a:defRPr>
            </a:pPr>
            <a:r>
              <a:t>Formal Mathematical Definitions: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212121"/>
                </a:solidFill>
              </a:rPr>
              <a:t>• Big-O Definition: </a:t>
            </a:r>
            <a:r>
              <a:rPr sz="1800">
                <a:solidFill>
                  <a:srgbClr val="616161"/>
                </a:solidFill>
              </a:rPr>
              <a:t>0 ≤ f(n) ≤ c · g(n)   for all n ≥ n₀, where c &gt; 0 and n₀ ≥ 1.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212121"/>
                </a:solidFill>
              </a:rPr>
              <a:t>• Big-Omega Definition: </a:t>
            </a:r>
            <a:r>
              <a:rPr sz="1800">
                <a:solidFill>
                  <a:srgbClr val="616161"/>
                </a:solidFill>
              </a:rPr>
              <a:t>0 ≤ c · g(n) ≤ f(n)   for all n ≥ n₀, where c &gt; 0 and n₀ ≥ 1.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212121"/>
                </a:solidFill>
              </a:rPr>
              <a:t>• Big-Theta Definition: </a:t>
            </a:r>
            <a:r>
              <a:rPr sz="1800">
                <a:solidFill>
                  <a:srgbClr val="616161"/>
                </a:solidFill>
              </a:rPr>
              <a:t>0 ≤ c₁ · g(n) ≤ f(n) ≤ c₂ · g(n)   for all n ≥ n₀, where c₁, c₂ &gt; 0 and n₀ ≥ 1.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10698480" cy="2011680"/>
          </a:xfrm>
          <a:prstGeom prst="roundRect">
            <a:avLst/>
          </a:prstGeom>
          <a:solidFill>
            <a:srgbClr val="EEF2FF"/>
          </a:solidFill>
          <a:ln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100" b="1">
                <a:solidFill>
                  <a:srgbClr val="1A237E"/>
                </a:solidFill>
              </a:defRPr>
            </a:pPr>
            <a:r>
              <a:t>THE ASYMPTOTIC EQUIVALENCE THEOREM</a:t>
            </a:r>
          </a:p>
          <a:p>
            <a:pPr algn="ctr">
              <a:spcBef>
                <a:spcPts val="800"/>
              </a:spcBef>
              <a:defRPr sz="2400" b="1">
                <a:solidFill>
                  <a:srgbClr val="4A148C"/>
                </a:solidFill>
              </a:defRPr>
            </a:pPr>
            <a:r>
              <a:t>f(n) = Θ(g(n))   ⟺   f(n) = O(g(n))   AND   f(n) = Ω(g(n))</a:t>
            </a:r>
          </a:p>
          <a:p>
            <a:pPr algn="ctr">
              <a:spcBef>
                <a:spcPts val="800"/>
              </a:spcBef>
              <a:defRPr sz="1600">
                <a:solidFill>
                  <a:srgbClr val="212121"/>
                </a:solidFill>
              </a:defRPr>
            </a:pPr>
            <a:r>
              <a:t>Significance: An algorithm has a tight bound Θ(g(n)) if and only if its upper ceiling and lower floor match the exact same rate of growth.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Mathematical Dry Run: f(n) = 3n² + 2n + 1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16161"/>
                </a:solidFill>
                <a:latin typeface="Calibri"/>
              </a:defRPr>
            </a:pPr>
            <a:r>
              <a:t>5/10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237E"/>
                </a:solidFill>
              </a:rPr>
              <a:t>► Step 1: Identify Dominant Candidate Term
</a:t>
            </a:r>
            <a:r>
              <a:rPr sz="1600">
                <a:solidFill>
                  <a:srgbClr val="212121"/>
                </a:solidFill>
              </a:rPr>
              <a:t>The given polynomial is f(n) = 3n² + 2n + 1. The highest exponent is 2, so our reference function is g(n) = n².</a:t>
            </a:r>
          </a:p>
          <a:p>
            <a:pPr>
              <a:spcBef>
                <a:spcPts val="1200"/>
              </a:spcBef>
            </a:pPr>
            <a:r>
              <a:rPr sz="1800" b="1">
                <a:solidFill>
                  <a:srgbClr val="1A237E"/>
                </a:solidFill>
              </a:rPr>
              <a:t>► Step 2: Proving Big-O (Upper Bound)
</a:t>
            </a:r>
            <a:r>
              <a:rPr sz="1600">
                <a:solidFill>
                  <a:srgbClr val="212121"/>
                </a:solidFill>
              </a:rPr>
              <a:t>We must find c &gt; 0, n₀ ≥ 1 such that 3n² + 2n + 1 ≤ c · n².
For n ≥ 1, we know 2n ≤ 2n² and 1 ≤ 1n².
Thus: 3n² + 2n + 1 ≤ 3n² + 2n² + 1n² = 6n².
Choosing c = 6 and n₀ = 1 confirms: f(n) ∈ O(n²).</a:t>
            </a:r>
          </a:p>
          <a:p>
            <a:pPr>
              <a:spcBef>
                <a:spcPts val="1200"/>
              </a:spcBef>
            </a:pPr>
            <a:r>
              <a:rPr sz="1800" b="1">
                <a:solidFill>
                  <a:srgbClr val="1A237E"/>
                </a:solidFill>
              </a:rPr>
              <a:t>► Step 3: Proving Big-Omega (Lower Bound)
</a:t>
            </a:r>
            <a:r>
              <a:rPr sz="1600">
                <a:solidFill>
                  <a:srgbClr val="212121"/>
                </a:solidFill>
              </a:rPr>
              <a:t>We must find c &gt; 0, n₀ ≥ 1 such that 3n² + 2n + 1 ≥ c · n².
Since 2n + 1 &gt; 0 for all n ≥ 1, it is immediate that:
3n² + 2n + 1 ≥ 3n² for all n ≥ 1.
Choosing c = 3 and n₀ = 1 confirms: f(n) ∈ Ω(n²).</a:t>
            </a:r>
          </a:p>
          <a:p>
            <a:pPr>
              <a:spcBef>
                <a:spcPts val="1200"/>
              </a:spcBef>
            </a:pPr>
            <a:r>
              <a:rPr sz="1800" b="1">
                <a:solidFill>
                  <a:srgbClr val="1A237E"/>
                </a:solidFill>
              </a:rPr>
              <a:t>► Step 4: Establishing Big-Theta (Tight Bound)
</a:t>
            </a:r>
            <a:r>
              <a:rPr sz="1600">
                <a:solidFill>
                  <a:srgbClr val="212121"/>
                </a:solidFill>
              </a:rPr>
              <a:t>Combining Steps 2 and 3: for all n ≥ 1, 3n² ≤ 3n² + 2n + 1 ≤ 6n².
With c₁ = 3, c₂ = 6, and n₀ = 1, f(n) is formally proven to be Θ(n²).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Algorithm Case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16161"/>
                </a:solidFill>
                <a:latin typeface="Calibri"/>
              </a:defRPr>
            </a:pPr>
            <a:r>
              <a:t>6/10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4ED8"/>
                </a:solidFill>
              </a:defRPr>
            </a:pPr>
            <a:r>
              <a:t>Linear Search Analysis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212121"/>
                </a:solidFill>
              </a:rPr>
              <a:t>Algorithm: </a:t>
            </a:r>
            <a:r>
              <a:rPr sz="1500">
                <a:solidFill>
                  <a:srgbClr val="616161"/>
                </a:solidFill>
              </a:rPr>
              <a:t> Sequentially compares target key with each element in an array of size n.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212121"/>
                </a:solidFill>
              </a:rPr>
              <a:t>Best Case: Ω(1) </a:t>
            </a:r>
            <a:r>
              <a:rPr sz="1500">
                <a:solidFill>
                  <a:srgbClr val="616161"/>
                </a:solidFill>
              </a:rPr>
              <a:t> Target element is located at index 0 on the very first comparison.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212121"/>
                </a:solidFill>
              </a:rPr>
              <a:t>Worst Case: O(n) </a:t>
            </a:r>
            <a:r>
              <a:rPr sz="1500">
                <a:solidFill>
                  <a:srgbClr val="616161"/>
                </a:solidFill>
              </a:rPr>
              <a:t> Target element is at index n-1 or absent entirely (requires n comparisons).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212121"/>
                </a:solidFill>
              </a:rPr>
              <a:t>Average Case: Θ(n) </a:t>
            </a:r>
            <a:r>
              <a:rPr sz="1500">
                <a:solidFill>
                  <a:srgbClr val="616161"/>
                </a:solidFill>
              </a:rPr>
              <a:t> On average, finds target after n/2 comparisons.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212121"/>
                </a:solidFill>
              </a:rPr>
              <a:t>Key Takeaway: </a:t>
            </a:r>
            <a:r>
              <a:rPr sz="1500">
                <a:solidFill>
                  <a:srgbClr val="616161"/>
                </a:solidFill>
              </a:rPr>
              <a:t> Because best-case and worst-case bounds diverge (1 vs n), Linear Search is NOT Θ(n) across all cases.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7C3AED"/>
                </a:solidFill>
              </a:defRPr>
            </a:pPr>
            <a:r>
              <a:t>Merge Sort Analysis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212121"/>
                </a:solidFill>
              </a:rPr>
              <a:t>Algorithm: </a:t>
            </a:r>
            <a:r>
              <a:rPr sz="1500">
                <a:solidFill>
                  <a:srgbClr val="616161"/>
                </a:solidFill>
              </a:rPr>
              <a:t> Divide-and-conquer strategy: recursively splits array in half and merges sorted halves.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212121"/>
                </a:solidFill>
              </a:rPr>
              <a:t>Recurrence Relation: </a:t>
            </a:r>
            <a:r>
              <a:rPr sz="1500">
                <a:solidFill>
                  <a:srgbClr val="616161"/>
                </a:solidFill>
              </a:rPr>
              <a:t> T(n) = 2T(n/2) + Θ(n)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212121"/>
                </a:solidFill>
              </a:rPr>
              <a:t>Consistent Behavior: </a:t>
            </a:r>
            <a:r>
              <a:rPr sz="1500">
                <a:solidFill>
                  <a:srgbClr val="616161"/>
                </a:solidFill>
              </a:rPr>
              <a:t> Merge Sort always splits down to single elements and merges in linear time, regardless of initial input order.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212121"/>
                </a:solidFill>
              </a:rPr>
              <a:t>Tight Bound: Θ(n log n) </a:t>
            </a:r>
            <a:r>
              <a:rPr sz="1500">
                <a:solidFill>
                  <a:srgbClr val="616161"/>
                </a:solidFill>
              </a:rPr>
              <a:t> Best, Average, and Worst cases are all identically Θ(n log n).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212121"/>
                </a:solidFill>
              </a:rPr>
              <a:t>Key Takeaway: </a:t>
            </a:r>
            <a:r>
              <a:rPr sz="1500">
                <a:solidFill>
                  <a:srgbClr val="616161"/>
                </a:solidFill>
              </a:rPr>
              <a:t> Since upper and lower bounds match in all scenarios, Merge Sort possesses a universally tight bound.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Visualization &amp; Asymptotic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16161"/>
                </a:solidFill>
                <a:latin typeface="Calibri"/>
              </a:defRPr>
            </a:pPr>
            <a:r>
              <a:t>7/10</a:t>
            </a:r>
          </a:p>
        </p:txBody>
      </p:sp>
      <p:pic>
        <p:nvPicPr>
          <p:cNvPr id="5" name="Picture 4" descr="Visu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5550195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Understanding Growth Rates &amp; Semi-Log Plot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16161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A237E"/>
                </a:solidFill>
              </a:defRPr>
            </a:pPr>
            <a:r>
              <a:t>Quantitative Comparison of Tested Growth Rates (for n = 1 to 10):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D4ED8"/>
                </a:solidFill>
              </a:rPr>
              <a:t>• Linear Function — n:</a:t>
            </a:r>
            <a:r>
              <a:rPr sz="1700">
                <a:solidFill>
                  <a:srgbClr val="212121"/>
                </a:solidFill>
              </a:rPr>
              <a:t> Scales steadily: f(1)=1, f(5)=5, f(10)=10. Growth factor remains constant.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0D9488"/>
                </a:solidFill>
              </a:rPr>
              <a:t>• Linearithmic Function — n log₂ n:</a:t>
            </a:r>
            <a:r>
              <a:rPr sz="1700">
                <a:solidFill>
                  <a:srgbClr val="212121"/>
                </a:solidFill>
              </a:rPr>
              <a:t> Common in divide-and-conquer: f(1)=0, f(5)≈11.6, f(10)≈33.2.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7C3AED"/>
                </a:solidFill>
              </a:rPr>
              <a:t>• Quadratic Function — n²:</a:t>
            </a:r>
            <a:r>
              <a:rPr sz="1700">
                <a:solidFill>
                  <a:srgbClr val="212121"/>
                </a:solidFill>
              </a:rPr>
              <a:t> Common in nested loops: f(1)=1, f(5)=25, f(10)=100. Accelerates quickly.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DC2626"/>
                </a:solidFill>
              </a:rPr>
              <a:t>• Exponential Function — 2ⁿ:</a:t>
            </a:r>
            <a:r>
              <a:rPr sz="1700">
                <a:solidFill>
                  <a:srgbClr val="212121"/>
                </a:solidFill>
              </a:rPr>
              <a:t> Intractable combinatorial search: f(1)=2, f(5)=32, f(10)=1024! Explodes.</a:t>
            </a:r>
          </a:p>
          <a:p>
            <a:pPr>
              <a:spcBef>
                <a:spcPts val="1600"/>
              </a:spcBef>
            </a:pPr>
            <a:r>
              <a:rPr sz="1900" b="1">
                <a:solidFill>
                  <a:srgbClr val="1A237E"/>
                </a:solidFill>
              </a:rPr>
              <a:t>Why Use a Logarithmic Vertical Axis (y = log₁₀(value))?
</a:t>
            </a:r>
            <a:r>
              <a:rPr sz="1600">
                <a:solidFill>
                  <a:srgbClr val="616161"/>
                </a:solidFill>
              </a:rPr>
              <a:t>At n = 10, the exponential value (1024) is over 100 times larger than the linear value (10). On a standard linear chart, the linear and linearithmic lines would be squashed flat against the bottom axis. Using log₁₀ scales decades (1, 10, 100, 1000) evenly, ensuring all four curves remain distinct, visible, and directly comparable.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Complexity Hierarchy &amp; Key Viva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16161"/>
                </a:solidFill>
                <a:latin typeface="Calibri"/>
              </a:defRPr>
            </a:pPr>
            <a:r>
              <a:t>9/10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698480" cy="822960"/>
          </a:xfrm>
          <a:prstGeom prst="roundRect">
            <a:avLst/>
          </a:prstGeom>
          <a:solidFill>
            <a:srgbClr val="EEF2FF"/>
          </a:solidFill>
          <a:ln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1A237E"/>
                </a:solidFill>
              </a:defRPr>
            </a:pPr>
            <a:r>
              <a:t>Growth Rate Hierarchy: O(1) &lt; O(log n) &lt; O(n) &lt; O(n log n) &lt; O(n²) &lt; O(2ⁿ) &lt; O(n!)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A237E"/>
                </a:solidFill>
              </a:defRPr>
            </a:pPr>
            <a:r>
              <a:t>Frequently Asked Viva Questions &amp; Answers: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D4ED8"/>
                </a:solidFill>
              </a:rPr>
              <a:t>Q: If an algorithm is O(n²), is it also O(n³)?
</a:t>
            </a:r>
            <a:r>
              <a:rPr sz="1500">
                <a:solidFill>
                  <a:srgbClr val="212121"/>
                </a:solidFill>
              </a:rPr>
              <a:t>A: YES. Big-O is an upper bound ceiling. Any function bounded by n² is certainly bounded by n³. However, it is NOT Θ(n³).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D4ED8"/>
                </a:solidFill>
              </a:rPr>
              <a:t>Q: Why are constants ignored in asymptotic notation?
</a:t>
            </a:r>
            <a:r>
              <a:rPr sz="1500">
                <a:solidFill>
                  <a:srgbClr val="212121"/>
                </a:solidFill>
              </a:rPr>
              <a:t>A: Constants depend on hardware specs and runtime environments. Asymptotic analysis measures purely algorithmic scalability as n grows.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D4ED8"/>
                </a:solidFill>
              </a:rPr>
              <a:t>Q: What distinguishes Big-O from worst-case running time?
</a:t>
            </a:r>
            <a:r>
              <a:rPr sz="1500">
                <a:solidFill>
                  <a:srgbClr val="212121"/>
                </a:solidFill>
              </a:rPr>
              <a:t>A: 'Worst-case' describes the worst possible input scenario; Big-O is a mathematical upper bound that can be applied to worst-case, best-case, or average-case functions.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D4ED8"/>
                </a:solidFill>
              </a:rPr>
              <a:t>Q: What is the significance of the threshold n₀?
</a:t>
            </a:r>
            <a:r>
              <a:rPr sz="1500">
                <a:solidFill>
                  <a:srgbClr val="212121"/>
                </a:solidFill>
              </a:rPr>
              <a:t>A: It guarantees that the bounding inequality holds for all sufficiently large inputs, even if smaller inputs behave irregularly.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Learning Outcomes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16161"/>
                </a:solidFill>
                <a:latin typeface="Calibri"/>
              </a:defRPr>
            </a:pPr>
            <a:r>
              <a:t>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237E"/>
                </a:solidFill>
              </a:defRPr>
            </a:pPr>
            <a:r>
              <a:t>Learning Outcomes: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212121"/>
                </a:solidFill>
              </a:rPr>
              <a:t>1. Mastered the formal mathematical definitions and inequalities for O, Ω, and Θ notations.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212121"/>
                </a:solidFill>
              </a:rPr>
              <a:t>2. Demonstrated that an asymptotically tight bound requires satisfying both upper and lower bounds simultaneously.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212121"/>
                </a:solidFill>
              </a:rPr>
              <a:t>3. Solved polynomial asymptotic growth proofs by identifying suitable constants c and threshold n₀.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212121"/>
                </a:solidFill>
              </a:rPr>
              <a:t>4. Analyzed algorithm case studies, distinguishing algorithms with variable bounds (Linear Search) from uniform bounds (Merge Sort).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212121"/>
                </a:solidFill>
              </a:rPr>
              <a:t>5. Learned how to visualize widely divergent growth curves using logarithmic scaling in Python.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297680"/>
            <a:ext cx="10698480" cy="1737360"/>
          </a:xfrm>
          <a:prstGeom prst="roundRect">
            <a:avLst/>
          </a:prstGeom>
          <a:solidFill>
            <a:srgbClr val="EEF2FF"/>
          </a:solidFill>
          <a:ln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CONCLUSION</a:t>
            </a:r>
          </a:p>
          <a:p>
            <a:pPr algn="ctr">
              <a:spcBef>
                <a:spcPts val="600"/>
              </a:spcBef>
              <a:defRPr sz="1600">
                <a:solidFill>
                  <a:srgbClr val="212121"/>
                </a:solidFill>
              </a:defRPr>
            </a:pPr>
            <a:r>
              <a:t>Asymptotic analysis provides a robust, machine-independent foundation for evaluating algorithmic efficiency. By abstracting away low-level machine dependencies and focusing on asymptotic growth rates, developers and researchers can accurately predict scalability and design optimal software architectures.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0" y="2560320"/>
            <a:ext cx="393192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159"/>
              </a:lnSpc>
              <a:spcAft>
                <a:spcPts val="400"/>
              </a:spcAft>
              <a:defRPr sz="4400" b="1">
                <a:solidFill>
                  <a:srgbClr val="FFFFFF"/>
                </a:solidFill>
              </a:defRPr>
            </a:pPr>
            <a:r>
              <a:t>Greedy Job Sequencing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  <a:spcAft>
                <a:spcPts val="400"/>
              </a:spcAft>
              <a:defRPr sz="3000" b="0">
                <a:solidFill>
                  <a:srgbClr val="2E86AB"/>
                </a:solidFill>
              </a:defRPr>
            </a:pPr>
            <a:r>
              <a:t>with Deadlines and Profits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175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00"/>
              </a:lnSpc>
              <a:spcAft>
                <a:spcPts val="400"/>
              </a:spcAft>
              <a:defRPr sz="2000" b="0">
                <a:solidFill>
                  <a:srgbClr val="555555"/>
                </a:solidFill>
              </a:defRPr>
            </a:pPr>
            <a:r>
              <a:t>Design and Analysis of Algorithms — DAA-538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661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555555"/>
                </a:solidFill>
              </a:defRPr>
            </a:pPr>
            <a:r>
              <a:t>October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00"/>
              </a:lnSpc>
              <a:spcBef>
                <a:spcPts val="600"/>
              </a:spcBef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Job Sequencing is a classic optimization problem in computer science and operations research.</a:t>
            </a:r>
          </a:p>
          <a:p>
            <a:pPr>
              <a:lnSpc>
                <a:spcPts val="2700"/>
              </a:lnSpc>
              <a:spcBef>
                <a:spcPts val="600"/>
              </a:spcBef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We are given n jobs, each with a deadline and a profit. The goal is to maximize total profit.</a:t>
            </a:r>
          </a:p>
          <a:p>
            <a:pPr>
              <a:lnSpc>
                <a:spcPts val="2700"/>
              </a:lnSpc>
              <a:spcBef>
                <a:spcPts val="600"/>
              </a:spcBef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Each job takes exactly one unit of time, and only one job can run at a time.</a:t>
            </a:r>
          </a:p>
          <a:p>
            <a:pPr>
              <a:lnSpc>
                <a:spcPts val="2700"/>
              </a:lnSpc>
              <a:spcBef>
                <a:spcPts val="600"/>
              </a:spcBef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A job earns its profit only if it completes on or before its deadline.</a:t>
            </a:r>
          </a:p>
          <a:p>
            <a:pPr>
              <a:lnSpc>
                <a:spcPts val="2700"/>
              </a:lnSpc>
              <a:spcBef>
                <a:spcPts val="600"/>
              </a:spcBef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The Greedy approach sorts jobs by profit (descending) and assigns each to the latest available slot.</a:t>
            </a:r>
          </a:p>
          <a:p>
            <a:pPr>
              <a:lnSpc>
                <a:spcPts val="2700"/>
              </a:lnSpc>
              <a:spcBef>
                <a:spcPts val="600"/>
              </a:spcBef>
              <a:spcAft>
                <a:spcPts val="400"/>
              </a:spcAft>
              <a:defRPr sz="1800">
                <a:solidFill>
                  <a:srgbClr val="222222"/>
                </a:solidFill>
              </a:defRPr>
            </a:pPr>
            <a:r>
              <a:t>•  This greedy choice is provably optimal — it always yields the maximum possible profit.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400"/>
              </a:spcAft>
              <a:defRPr sz="1700" b="0">
                <a:solidFill>
                  <a:srgbClr val="222222"/>
                </a:solidFill>
              </a:defRPr>
            </a:pPr>
            <a:r>
              <a:t>Given:  A set of n jobs, where each job Jᵢ has:</a:t>
            </a:r>
          </a:p>
          <a:p>
            <a:pPr algn="l">
              <a:lnSpc>
                <a:spcPts val="2379"/>
              </a:lnSpc>
              <a:spcAft>
                <a:spcPts val="400"/>
              </a:spcAft>
              <a:defRPr sz="1700" b="0">
                <a:solidFill>
                  <a:srgbClr val="222222"/>
                </a:solidFill>
              </a:defRPr>
            </a:pPr>
            <a:r>
              <a:t>    •  A unique Job ID (e.g., J1, J2, …)</a:t>
            </a:r>
          </a:p>
          <a:p>
            <a:pPr algn="l">
              <a:lnSpc>
                <a:spcPts val="2379"/>
              </a:lnSpc>
              <a:spcAft>
                <a:spcPts val="400"/>
              </a:spcAft>
              <a:defRPr sz="1700" b="0">
                <a:solidFill>
                  <a:srgbClr val="222222"/>
                </a:solidFill>
              </a:defRPr>
            </a:pPr>
            <a:r>
              <a:t>    •  A Deadline dᵢ (positive integer) — the latest time unit by which the job must finish</a:t>
            </a:r>
          </a:p>
          <a:p>
            <a:pPr algn="l">
              <a:lnSpc>
                <a:spcPts val="2379"/>
              </a:lnSpc>
              <a:spcAft>
                <a:spcPts val="400"/>
              </a:spcAft>
              <a:defRPr sz="1700" b="0">
                <a:solidFill>
                  <a:srgbClr val="222222"/>
                </a:solidFill>
              </a:defRPr>
            </a:pPr>
            <a:r>
              <a:t>    •  A Profit pᵢ (non-negative) — the reward earned if the job is completed on time</a:t>
            </a:r>
          </a:p>
          <a:p>
            <a:pPr algn="l">
              <a:lnSpc>
                <a:spcPts val="2379"/>
              </a:lnSpc>
              <a:spcAft>
                <a:spcPts val="400"/>
              </a:spcAft>
              <a:defRPr sz="1700" b="0">
                <a:solidFill>
                  <a:srgbClr val="222222"/>
                </a:solidFill>
              </a:defRPr>
            </a:pPr>
            <a:endParaRPr/>
          </a:p>
          <a:p>
            <a:pPr algn="l">
              <a:lnSpc>
                <a:spcPts val="2379"/>
              </a:lnSpc>
              <a:spcAft>
                <a:spcPts val="400"/>
              </a:spcAft>
              <a:defRPr sz="1700" b="0">
                <a:solidFill>
                  <a:srgbClr val="222222"/>
                </a:solidFill>
              </a:defRPr>
            </a:pPr>
            <a:r>
              <a:t>Constraints:</a:t>
            </a:r>
          </a:p>
          <a:p>
            <a:pPr algn="l">
              <a:lnSpc>
                <a:spcPts val="2379"/>
              </a:lnSpc>
              <a:spcAft>
                <a:spcPts val="400"/>
              </a:spcAft>
              <a:defRPr sz="1700" b="0">
                <a:solidFill>
                  <a:srgbClr val="222222"/>
                </a:solidFill>
              </a:defRPr>
            </a:pPr>
            <a:r>
              <a:t>    •  Each job takes exactly 1 unit of time to execute</a:t>
            </a:r>
          </a:p>
          <a:p>
            <a:pPr algn="l">
              <a:lnSpc>
                <a:spcPts val="2379"/>
              </a:lnSpc>
              <a:spcAft>
                <a:spcPts val="400"/>
              </a:spcAft>
              <a:defRPr sz="1700" b="0">
                <a:solidFill>
                  <a:srgbClr val="222222"/>
                </a:solidFill>
              </a:defRPr>
            </a:pPr>
            <a:r>
              <a:t>    •  Only one job can be processed in each time slot</a:t>
            </a:r>
          </a:p>
          <a:p>
            <a:pPr algn="l">
              <a:lnSpc>
                <a:spcPts val="2379"/>
              </a:lnSpc>
              <a:spcAft>
                <a:spcPts val="400"/>
              </a:spcAft>
              <a:defRPr sz="1700" b="0">
                <a:solidFill>
                  <a:srgbClr val="222222"/>
                </a:solidFill>
              </a:defRPr>
            </a:pPr>
            <a:r>
              <a:t>    •  Time slots are numbered 1, 2, …, max(dᵢ)</a:t>
            </a:r>
          </a:p>
          <a:p>
            <a:pPr algn="l">
              <a:lnSpc>
                <a:spcPts val="2379"/>
              </a:lnSpc>
              <a:spcAft>
                <a:spcPts val="400"/>
              </a:spcAft>
              <a:defRPr sz="1700" b="0">
                <a:solidFill>
                  <a:srgbClr val="222222"/>
                </a:solidFill>
              </a:defRPr>
            </a:pPr>
            <a:endParaRPr/>
          </a:p>
          <a:p>
            <a:pPr algn="l">
              <a:lnSpc>
                <a:spcPts val="2379"/>
              </a:lnSpc>
              <a:spcAft>
                <a:spcPts val="400"/>
              </a:spcAft>
              <a:defRPr sz="1700" b="0">
                <a:solidFill>
                  <a:srgbClr val="222222"/>
                </a:solidFill>
              </a:defRPr>
            </a:pPr>
            <a:r>
              <a:t>Objective:  Find a schedule S ⊆ {J1, …, Jn} that maximizes  Σ pᵢ  for all Jᵢ ∈ S,</a:t>
            </a:r>
          </a:p>
          <a:p>
            <a:pPr algn="l">
              <a:lnSpc>
                <a:spcPts val="2379"/>
              </a:lnSpc>
              <a:spcAft>
                <a:spcPts val="400"/>
              </a:spcAft>
              <a:defRPr sz="1700" b="0">
                <a:solidFill>
                  <a:srgbClr val="222222"/>
                </a:solidFill>
              </a:defRPr>
            </a:pPr>
            <a:r>
              <a:t>such that each scheduled job finishes within its deadline and no two jobs share a slot.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Greedy Algorithm — Logic &amp; 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Sort all jobs by profit in descending order.</a:t>
            </a:r>
          </a:p>
          <a:p>
            <a:pPr>
              <a:lnSpc>
                <a:spcPts val="24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Determine max deadline → number of time slots.</a:t>
            </a:r>
          </a:p>
          <a:p>
            <a:pPr>
              <a:lnSpc>
                <a:spcPts val="24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For each job (highest profit first):</a:t>
            </a:r>
          </a:p>
          <a:p>
            <a:pPr>
              <a:lnSpc>
                <a:spcPts val="24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    Find the latest empty slot ≤ its deadline.</a:t>
            </a:r>
          </a:p>
          <a:p>
            <a:pPr>
              <a:lnSpc>
                <a:spcPts val="24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    If found → schedule the job there.</a:t>
            </a:r>
          </a:p>
          <a:p>
            <a:pPr>
              <a:lnSpc>
                <a:spcPts val="24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    If not → reject the job.</a:t>
            </a:r>
          </a:p>
          <a:p>
            <a:pPr>
              <a:lnSpc>
                <a:spcPts val="24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Sum profits of all scheduled jobs.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280160"/>
            <a:ext cx="5760720" cy="484632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r>
              <a:t>GREEDY-JOB-SEQUENCING(Jobs)</a:t>
            </a:r>
          </a:p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endParaRPr/>
          </a:p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r>
              <a:t>  Sort Jobs by profit (descending)</a:t>
            </a:r>
          </a:p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r>
              <a:t>  max_d ← max deadline</a:t>
            </a:r>
          </a:p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r>
              <a:t>  Slots[1..max_d] ← EMPTY</a:t>
            </a:r>
          </a:p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endParaRPr/>
          </a:p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r>
              <a:t>  FOR each job J in sorted Jobs:</a:t>
            </a:r>
          </a:p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r>
              <a:t>    FOR s ← min(J.deadline, max_d) DOWNTO 1:</a:t>
            </a:r>
          </a:p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r>
              <a:t>      IF Slots[s] == EMPTY:</a:t>
            </a:r>
          </a:p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r>
              <a:t>        Slots[s] ← J</a:t>
            </a:r>
          </a:p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r>
              <a:t>        scheduled ← scheduled ∪ {J}</a:t>
            </a:r>
          </a:p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r>
              <a:t>        BREAK</a:t>
            </a:r>
          </a:p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r>
              <a:t>    IF J not placed:</a:t>
            </a:r>
          </a:p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r>
              <a:t>      rejected ← rejected ∪ {J}</a:t>
            </a:r>
          </a:p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endParaRPr/>
          </a:p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r>
              <a:t>  profit ← Σ p for all J in scheduled</a:t>
            </a:r>
          </a:p>
          <a:p>
            <a:pPr algn="l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7FDBCA"/>
                </a:solidFill>
              </a:defRPr>
            </a:pPr>
            <a:r>
              <a:t>  RETURN scheduled, rejected, profit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Flowchart</a:t>
            </a:r>
          </a:p>
        </p:txBody>
      </p:sp>
      <p:pic>
        <p:nvPicPr>
          <p:cNvPr id="3" name="Picture 2" descr="Visu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847" y="1188720"/>
            <a:ext cx="45720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Sample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555555"/>
                </a:solidFill>
              </a:defRPr>
            </a:pPr>
            <a:r>
              <a:t>Five jobs with their deadlines and profits: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9202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Job ID</a:t>
                      </a:r>
                    </a:p>
                  </a:txBody>
                  <a:tcPr anchor="ctr"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Deadline</a:t>
                      </a:r>
                    </a:p>
                  </a:txBody>
                  <a:tcPr anchor="ctr"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Profit</a:t>
                      </a:r>
                    </a:p>
                  </a:txBody>
                  <a:tcPr anchor="ctr">
                    <a:solidFill>
                      <a:srgbClr val="2E86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J1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J2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J3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J4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J5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2E86AB"/>
                </a:solidFill>
              </a:defRPr>
            </a:pPr>
            <a:r>
              <a:t>After sorting by profit (descending):  J1 (100) → J3 (27) → J4 (25) → J2 (19) → J5 (15)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92024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Step 1: J1 → Slot 2 ✓</a:t>
            </a:r>
          </a:p>
          <a:p>
            <a:pPr>
              <a:lnSpc>
                <a:spcPts val="24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Step 2: J3 → Slot 1 ✓</a:t>
            </a:r>
          </a:p>
          <a:p>
            <a:pPr>
              <a:lnSpc>
                <a:spcPts val="24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Step 3: J4 → Rejected ✗</a:t>
            </a:r>
          </a:p>
          <a:p>
            <a:pPr>
              <a:lnSpc>
                <a:spcPts val="24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Step 4: J2 → Rejected ✗</a:t>
            </a:r>
          </a:p>
          <a:p>
            <a:pPr>
              <a:lnSpc>
                <a:spcPts val="24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rgbClr val="222222"/>
                </a:solidFill>
              </a:defRPr>
            </a:pPr>
            <a:r>
              <a:t>•  Step 5: J5 → Slot 3 ✓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Results &amp; Complexity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1A1A2E"/>
                </a:solidFill>
              </a:defRPr>
            </a:pPr>
            <a:r>
              <a:t>Optimal Schedule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4114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Slot</a:t>
                      </a:r>
                    </a:p>
                  </a:txBody>
                  <a:tcPr anchor="ctr"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Job</a:t>
                      </a:r>
                    </a:p>
                  </a:txBody>
                  <a:tcPr anchor="ctr"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Profit</a:t>
                      </a:r>
                    </a:p>
                  </a:txBody>
                  <a:tcPr anchor="ctr">
                    <a:solidFill>
                      <a:srgbClr val="2E86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J3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J1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J5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3840480"/>
            <a:ext cx="4114800" cy="6400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★  Maximum Total Profit:  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634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400"/>
              </a:spcAft>
              <a:defRPr sz="1600" b="1">
                <a:solidFill>
                  <a:srgbClr val="C0392B"/>
                </a:solidFill>
              </a:defRPr>
            </a:pPr>
            <a:r>
              <a:t>Rejected Jobs:  J4, J2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1A1A2E"/>
                </a:solidFill>
              </a:defRPr>
            </a:pPr>
            <a:r>
              <a:t>Time &amp; Space Complexity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 anchor="ctr"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Complexity</a:t>
                      </a:r>
                    </a:p>
                  </a:txBody>
                  <a:tcPr anchor="ctr">
                    <a:solidFill>
                      <a:srgbClr val="2E86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Sorting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O(n log n)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Scheduling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O(n × 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Overall Time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O(n × d)</a:t>
                      </a:r>
                    </a:p>
                  </a:txBody>
                  <a:tcPr anchor="ctr"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Space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O(n + 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2062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555555"/>
                </a:solidFill>
              </a:defRPr>
            </a:pPr>
            <a:r>
              <a:t>n = number of jobs,  d = maximum deadline.</a:t>
            </a:r>
          </a:p>
          <a:p>
            <a:pPr algn="l"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555555"/>
                </a:solidFill>
              </a:defRPr>
            </a:pPr>
            <a:r>
              <a:t>Can be optimized to O(n log n) using Union-Find.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  Conclusion &amp; Learning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50"/>
              </a:lnSpc>
              <a:spcBef>
                <a:spcPts val="600"/>
              </a:spcBef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Greedy Strategy — Learned that choosing the highest-profit job first and assigning it to the latest available slot yields a provably optimal solution.</a:t>
            </a:r>
          </a:p>
          <a:p>
            <a:pPr>
              <a:lnSpc>
                <a:spcPts val="2550"/>
              </a:lnSpc>
              <a:spcBef>
                <a:spcPts val="600"/>
              </a:spcBef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Scheduling Fundamentals — Understood how to model real-world scheduling constraints (deadlines, limited time slots) as an algorithmic problem.</a:t>
            </a:r>
          </a:p>
          <a:p>
            <a:pPr>
              <a:lnSpc>
                <a:spcPts val="2550"/>
              </a:lnSpc>
              <a:spcBef>
                <a:spcPts val="600"/>
              </a:spcBef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Slot-Based Assignment — Practiced assigning tasks to the latest feasible slot, preserving flexibility for subsequent jobs.</a:t>
            </a:r>
          </a:p>
          <a:p>
            <a:pPr>
              <a:lnSpc>
                <a:spcPts val="2550"/>
              </a:lnSpc>
              <a:spcBef>
                <a:spcPts val="600"/>
              </a:spcBef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Complexity Awareness — Analyzed O(n × d) time and O(d) space, and learned about Union-Find optimization to achieve near-linear time.</a:t>
            </a:r>
          </a:p>
          <a:p>
            <a:pPr>
              <a:lnSpc>
                <a:spcPts val="2550"/>
              </a:lnSpc>
              <a:spcBef>
                <a:spcPts val="600"/>
              </a:spcBef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Input Validation — Implemented robust checks for invalid data (negative deadlines, non-numeric profits, empty inputs).</a:t>
            </a:r>
          </a:p>
          <a:p>
            <a:pPr>
              <a:lnSpc>
                <a:spcPts val="2550"/>
              </a:lnSpc>
              <a:spcBef>
                <a:spcPts val="600"/>
              </a:spcBef>
              <a:spcAft>
                <a:spcPts val="400"/>
              </a:spcAft>
              <a:defRPr sz="1700">
                <a:solidFill>
                  <a:srgbClr val="222222"/>
                </a:solidFill>
              </a:defRPr>
            </a:pPr>
            <a:r>
              <a:t>•  Verified Correctness — Confirmed the algorithm produces the expected optimal profit of 142 for the given five-job dataset.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2179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20"/>
              </a:lnSpc>
              <a:spcAft>
                <a:spcPts val="400"/>
              </a:spcAft>
              <a:defRPr sz="1300" b="0">
                <a:solidFill>
                  <a:srgbClr val="555555"/>
                </a:solidFill>
              </a:defRPr>
            </a:pPr>
            <a:r>
              <a:t>Design and Analysis of Algorithms — DAA-538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0/1 Knapsack using Dynamic Programming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99"/>
            </a:pPr>
            <a:r>
              <a:t>Maximize the aggregate profit by selecting an optimal subset of items.</a:t>
            </a:r>
          </a:p>
          <a:p>
            <a:pPr>
              <a:defRPr sz="1999"/>
            </a:pPr>
            <a:r>
              <a:t>Each item can be selected at most once (0/1 decision variable).</a:t>
            </a:r>
          </a:p>
          <a:p>
            <a:pPr>
              <a:defRPr sz="1999"/>
            </a:pPr>
            <a:r>
              <a:t>Maximum Knapsack capacity W = 10.</a:t>
            </a:r>
          </a:p>
          <a:p>
            <a:pPr>
              <a:defRPr sz="1999"/>
            </a:pPr>
            <a:r>
              <a:t>The project uses 4 distinct items with specified weights and profits.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 and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99"/>
            </a:pPr>
            <a:r>
              <a:t>Item 1: Weight = 1, Profit = 10</a:t>
            </a:r>
          </a:p>
          <a:p>
            <a:pPr>
              <a:defRPr sz="1999"/>
            </a:pPr>
            <a:r>
              <a:t>Item 2: Weight = 2, Profit = 20</a:t>
            </a:r>
          </a:p>
          <a:p>
            <a:pPr>
              <a:defRPr sz="1999"/>
            </a:pPr>
            <a:r>
              <a:t>Item 3: Weight = 4, Profit = 35</a:t>
            </a:r>
          </a:p>
          <a:p>
            <a:pPr>
              <a:defRPr sz="1999"/>
            </a:pPr>
            <a:r>
              <a:t>Item 4: Weight = 5, Profit = 45</a:t>
            </a:r>
          </a:p>
          <a:p>
            <a:pPr>
              <a:defRPr sz="1999"/>
            </a:pPr>
            <a:r>
              <a:t>Objective: Find the subset maximizing profit without exceeding capacity W = 10.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Dynamic Programming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99"/>
            </a:pPr>
            <a:r>
              <a:t>Construct table dp[i][w] storing optimal profit for first i items and capacity w.</a:t>
            </a:r>
          </a:p>
          <a:p>
            <a:pPr>
              <a:defRPr sz="1999"/>
            </a:pPr>
            <a:r>
              <a:t>For each item, evaluate choice between excluding or including the item.</a:t>
            </a:r>
          </a:p>
          <a:p>
            <a:pPr>
              <a:defRPr sz="1999"/>
            </a:pPr>
            <a:r>
              <a:t>Recurrence: dp[i][w] = max(dp[i-1][w], profit[i-1] + dp[i-1][w - weight[i-1]]).</a:t>
            </a:r>
          </a:p>
          <a:p>
            <a:pPr>
              <a:defRPr sz="1999"/>
            </a:pPr>
            <a:r>
              <a:t>Backtrack from dp[n][W] through the table to identify the selected items.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 Table Visualization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63" y="1188690"/>
            <a:ext cx="10881087" cy="543804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 and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99"/>
            </a:pPr>
            <a:r>
              <a:t>Maximum Profit = 90</a:t>
            </a:r>
          </a:p>
          <a:p>
            <a:pPr>
              <a:defRPr sz="1999"/>
            </a:pPr>
            <a:r>
              <a:t>Selected Items = 1, 3, 4</a:t>
            </a:r>
          </a:p>
          <a:p>
            <a:pPr>
              <a:defRPr sz="1999"/>
            </a:pPr>
            <a:r>
              <a:t>Total Weight = 10 / 10</a:t>
            </a:r>
          </a:p>
          <a:p>
            <a:pPr>
              <a:defRPr sz="1999"/>
            </a:pPr>
            <a:r>
              <a:t>Time Complexity: O(n * W) = O(4 * 10) = 40 operations</a:t>
            </a:r>
          </a:p>
          <a:p>
            <a:pPr>
              <a:defRPr sz="1999"/>
            </a:pPr>
            <a:r>
              <a:t>Space Complexity: O(n * W) auxiliary table space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99"/>
            </a:pPr>
            <a:r>
              <a:t>Understood bottom-up tabular Dynamic Programming for 0/1 Knapsack.</a:t>
            </a:r>
          </a:p>
          <a:p>
            <a:pPr>
              <a:defRPr sz="1999"/>
            </a:pPr>
            <a:r>
              <a:t>Learned how subproblems are formulated and stored in a DP matrix.</a:t>
            </a:r>
          </a:p>
          <a:p>
            <a:pPr>
              <a:defRPr sz="1999"/>
            </a:pPr>
            <a:r>
              <a:t>Understood item inclusion/exclusion state transitions and backtracking.</a:t>
            </a:r>
          </a:p>
          <a:p>
            <a:pPr>
              <a:defRPr sz="1999"/>
            </a:pPr>
            <a:r>
              <a:t>Completed implementation, prompt engineering, and visual verification.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Sum of Subsets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BBDEFB"/>
                </a:solidFill>
                <a:latin typeface="Calibri"/>
              </a:defRPr>
            </a:pPr>
            <a:r>
              <a:t>Using Backtracking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4023360"/>
            <a:ext cx="3931920" cy="38100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Design and Analysis of Algorithms (DAA)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1/10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is the Sum of Subsets Problem?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Given a set of positive integers and a target sum,</a:t>
            </a:r>
          </a:p>
          <a:p>
            <a:pPr>
              <a:spcAft>
                <a:spcPts val="6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find ALL subsets whose elements add up exactly to the target.</a:t>
            </a:r>
          </a:p>
          <a:p>
            <a:pPr>
              <a:spcAft>
                <a:spcPts val="6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Example:</a:t>
            </a:r>
          </a:p>
          <a:p>
            <a:pPr>
              <a:spcAft>
                <a:spcPts val="6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    Set  S = { 5, 10, 12 }</a:t>
            </a:r>
          </a:p>
          <a:p>
            <a:pPr>
              <a:spcAft>
                <a:spcPts val="6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    Target Sum  M = 15</a:t>
            </a:r>
          </a:p>
          <a:p>
            <a:pPr>
              <a:spcAft>
                <a:spcPts val="6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Question: Which subsets of S sum to exactly 15?</a:t>
            </a:r>
          </a:p>
          <a:p>
            <a:pPr>
              <a:spcAft>
                <a:spcPts val="6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This is a classic combinatorial search problem.</a:t>
            </a:r>
          </a:p>
          <a:p>
            <a:pPr>
              <a:spcAft>
                <a:spcPts val="6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It appears in cryptography, resource allocation, and scheduling.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5212080"/>
            <a:ext cx="5760720" cy="64008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91840" y="5257800"/>
            <a:ext cx="5577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8A3A"/>
                </a:solidFill>
                <a:latin typeface="Calibri"/>
              </a:defRPr>
            </a:pPr>
            <a:r>
              <a:t>Answer:  { 5, 10 }  →  5 + 10 = 15  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2/10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is Backtracking?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r>
              <a:t>Backtracking is a systematic trial-and-error technique.</a:t>
            </a:r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r>
              <a:t>• Build a solution step by step (depth-first).</a:t>
            </a:r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r>
              <a:t>• At each step, make a CHOICE (include or exclude an element).</a:t>
            </a:r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r>
              <a:t>• If the choice leads to a dead end → UNDO it (backtrack).</a:t>
            </a:r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r>
              <a:t>• If the partial sum already exceeds the target → PRUNE that branch.</a:t>
            </a:r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r>
              <a:t>Why use it here?</a:t>
            </a:r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r>
              <a:t>   – A brute-force approach checks all 2ⁿ subsets.</a:t>
            </a:r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r>
              <a:t>   – Backtracking PRUNES branches early, reducing work.</a:t>
            </a:r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r>
              <a:t>Key idea:  Don't explore paths that can never lead to a solution.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3/10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Algorithm —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1.  Initialize the set S = {5, 10, 12} and target sum M = 15.</a:t>
            </a:r>
          </a:p>
          <a:p>
            <a:pPr>
              <a:spcAft>
                <a:spcPts val="5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2.  Start with an empty subset { } and current sum = 0.</a:t>
            </a:r>
          </a:p>
          <a:p>
            <a:pPr>
              <a:spcAft>
                <a:spcPts val="5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3.  Pick the next element from S.</a:t>
            </a:r>
          </a:p>
          <a:p>
            <a:pPr>
              <a:spcAft>
                <a:spcPts val="5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4.  Branch into two choices:</a:t>
            </a:r>
          </a:p>
          <a:p>
            <a:pPr>
              <a:spcAft>
                <a:spcPts val="5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 a)  Include the element  → add its value to current sum.</a:t>
            </a:r>
          </a:p>
          <a:p>
            <a:pPr>
              <a:spcAft>
                <a:spcPts val="5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 b)  Exclude the element  → keep current sum unchanged.</a:t>
            </a:r>
          </a:p>
          <a:p>
            <a:pPr>
              <a:spcAft>
                <a:spcPts val="5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5.  If current sum == M  →  record subset as a VALID SOLUTION.</a:t>
            </a:r>
          </a:p>
          <a:p>
            <a:pPr>
              <a:spcAft>
                <a:spcPts val="5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6.  If current sum &gt; M   →  PRUNE the branch (stop exploring).</a:t>
            </a:r>
          </a:p>
          <a:p>
            <a:pPr>
              <a:spcAft>
                <a:spcPts val="5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7.  Recurse for the remaining elements.</a:t>
            </a:r>
          </a:p>
          <a:p>
            <a:pPr>
              <a:spcAft>
                <a:spcPts val="5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8.  After exploring "Include", backtrack (remove the element)</a:t>
            </a:r>
          </a:p>
          <a:p>
            <a:pPr>
              <a:spcAft>
                <a:spcPts val="5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and explore "Exclude".</a:t>
            </a:r>
          </a:p>
          <a:p>
            <a:pPr>
              <a:spcAft>
                <a:spcPts val="5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9.  Stop when all elements have been considered.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4/10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Pseudocode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860712" cy="5440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463040"/>
            <a:ext cx="10241280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FUNCTION </a:t>
            </a:r>
            <a:r>
              <a:rPr sz="1400" dirty="0" err="1"/>
              <a:t>findSubsets</a:t>
            </a:r>
            <a:r>
              <a:rPr sz="1400" dirty="0"/>
              <a:t>(index, </a:t>
            </a:r>
            <a:r>
              <a:rPr sz="1400" dirty="0" err="1"/>
              <a:t>currentSubset</a:t>
            </a:r>
            <a:r>
              <a:rPr sz="1400" dirty="0"/>
              <a:t>, </a:t>
            </a:r>
            <a:r>
              <a:rPr sz="1400" dirty="0" err="1"/>
              <a:t>currentSum</a:t>
            </a:r>
            <a:r>
              <a:rPr sz="1400" dirty="0"/>
              <a:t>, </a:t>
            </a:r>
            <a:r>
              <a:rPr sz="1400" dirty="0" err="1"/>
              <a:t>targetSum</a:t>
            </a:r>
            <a:r>
              <a:rPr sz="1400" dirty="0"/>
              <a:t>, S):</a:t>
            </a:r>
            <a:br>
              <a:rPr sz="1400" dirty="0"/>
            </a:br>
            <a:br>
              <a:rPr sz="1400" dirty="0"/>
            </a:br>
            <a:r>
              <a:rPr sz="1400" dirty="0"/>
              <a:t>    IF </a:t>
            </a:r>
            <a:r>
              <a:rPr sz="1400" dirty="0" err="1"/>
              <a:t>currentSum</a:t>
            </a:r>
            <a:r>
              <a:rPr sz="1400" dirty="0"/>
              <a:t> == </a:t>
            </a:r>
            <a:r>
              <a:rPr sz="1400" dirty="0" err="1"/>
              <a:t>targetSum</a:t>
            </a:r>
            <a:r>
              <a:rPr sz="1400" dirty="0"/>
              <a:t> THEN</a:t>
            </a:r>
            <a:br>
              <a:rPr sz="1400" dirty="0"/>
            </a:br>
            <a:r>
              <a:rPr sz="1400" dirty="0"/>
              <a:t>        PRINT </a:t>
            </a:r>
            <a:r>
              <a:rPr sz="1400" dirty="0" err="1"/>
              <a:t>currentSubset</a:t>
            </a:r>
            <a:r>
              <a:rPr sz="1400" dirty="0"/>
              <a:t>          ← Solution found!</a:t>
            </a:r>
            <a:br>
              <a:rPr sz="1400" dirty="0"/>
            </a:br>
            <a:r>
              <a:rPr sz="1400" dirty="0"/>
              <a:t>        RETURN</a:t>
            </a:r>
            <a:br>
              <a:rPr sz="1400" dirty="0"/>
            </a:br>
            <a:br>
              <a:rPr sz="1400" dirty="0"/>
            </a:br>
            <a:r>
              <a:rPr sz="1400" dirty="0"/>
              <a:t>    IF </a:t>
            </a:r>
            <a:r>
              <a:rPr sz="1400" dirty="0" err="1"/>
              <a:t>currentSum</a:t>
            </a:r>
            <a:r>
              <a:rPr sz="1400" dirty="0"/>
              <a:t> &gt; </a:t>
            </a:r>
            <a:r>
              <a:rPr sz="1400" dirty="0" err="1"/>
              <a:t>targetSum</a:t>
            </a:r>
            <a:r>
              <a:rPr sz="1400" dirty="0"/>
              <a:t> THEN</a:t>
            </a:r>
            <a:br>
              <a:rPr sz="1400" dirty="0"/>
            </a:br>
            <a:r>
              <a:rPr sz="1400" dirty="0"/>
              <a:t>        RETURN                       ← Prune (bounding function)</a:t>
            </a:r>
            <a:br>
              <a:rPr sz="1400" dirty="0"/>
            </a:br>
            <a:br>
              <a:rPr sz="1400" dirty="0"/>
            </a:br>
            <a:r>
              <a:rPr sz="1400" dirty="0"/>
              <a:t>    IF index &gt;= LENGTH(S) THEN</a:t>
            </a:r>
            <a:br>
              <a:rPr sz="1400" dirty="0"/>
            </a:br>
            <a:r>
              <a:rPr sz="1400" dirty="0"/>
              <a:t>        RETURN                       ← All elements considered</a:t>
            </a:r>
            <a:br>
              <a:rPr sz="1400" dirty="0"/>
            </a:br>
            <a:br>
              <a:rPr sz="1400" dirty="0"/>
            </a:br>
            <a:r>
              <a:rPr sz="1400" dirty="0"/>
              <a:t>    // Choice 1: INCLUDE S[index]</a:t>
            </a:r>
            <a:br>
              <a:rPr sz="1400" dirty="0"/>
            </a:br>
            <a:r>
              <a:rPr sz="1400" dirty="0"/>
              <a:t>    ADD S[index] to </a:t>
            </a:r>
            <a:r>
              <a:rPr sz="1400" dirty="0" err="1"/>
              <a:t>currentSubset</a:t>
            </a:r>
            <a:br>
              <a:rPr sz="1400" dirty="0"/>
            </a:br>
            <a:r>
              <a:rPr sz="1400" dirty="0"/>
              <a:t>    </a:t>
            </a:r>
            <a:r>
              <a:rPr sz="1400" dirty="0" err="1"/>
              <a:t>findSubsets</a:t>
            </a:r>
            <a:r>
              <a:rPr sz="1400" dirty="0"/>
              <a:t>(index + 1, </a:t>
            </a:r>
            <a:r>
              <a:rPr sz="1400" dirty="0" err="1"/>
              <a:t>currentSubset</a:t>
            </a:r>
            <a:r>
              <a:rPr sz="1400" dirty="0"/>
              <a:t>, </a:t>
            </a:r>
            <a:r>
              <a:rPr sz="1400" dirty="0" err="1"/>
              <a:t>currentSum</a:t>
            </a:r>
            <a:r>
              <a:rPr sz="1400" dirty="0"/>
              <a:t> + S[index], </a:t>
            </a:r>
            <a:r>
              <a:rPr sz="1400" dirty="0" err="1"/>
              <a:t>targetSum</a:t>
            </a:r>
            <a:r>
              <a:rPr sz="1400" dirty="0"/>
              <a:t>, S)</a:t>
            </a:r>
            <a:br>
              <a:rPr sz="1400" dirty="0"/>
            </a:br>
            <a:br>
              <a:rPr sz="1400" dirty="0"/>
            </a:br>
            <a:r>
              <a:rPr sz="1400" dirty="0"/>
              <a:t>    // Backtrack: UNDO inclusion</a:t>
            </a:r>
            <a:br>
              <a:rPr sz="1400" dirty="0"/>
            </a:br>
            <a:r>
              <a:rPr sz="1400" dirty="0"/>
              <a:t>    REMOVE last element from </a:t>
            </a:r>
            <a:r>
              <a:rPr sz="1400" dirty="0" err="1"/>
              <a:t>currentSubset</a:t>
            </a:r>
            <a:br>
              <a:rPr sz="1400" dirty="0"/>
            </a:br>
            <a:br>
              <a:rPr sz="1400" dirty="0"/>
            </a:br>
            <a:r>
              <a:rPr sz="1400" dirty="0"/>
              <a:t>    // Choice 2: EXCLUDE S[index]</a:t>
            </a:r>
            <a:br>
              <a:rPr sz="1400" dirty="0"/>
            </a:br>
            <a:r>
              <a:rPr sz="1400" dirty="0"/>
              <a:t>    </a:t>
            </a:r>
            <a:r>
              <a:rPr sz="1400" dirty="0" err="1"/>
              <a:t>findSubsets</a:t>
            </a:r>
            <a:r>
              <a:rPr sz="1400" dirty="0"/>
              <a:t>(index + 1, </a:t>
            </a:r>
            <a:r>
              <a:rPr sz="1400" dirty="0" err="1"/>
              <a:t>currentSubset</a:t>
            </a:r>
            <a:r>
              <a:rPr sz="1400" dirty="0"/>
              <a:t>, </a:t>
            </a:r>
            <a:r>
              <a:rPr sz="1400" dirty="0" err="1"/>
              <a:t>currentSum</a:t>
            </a:r>
            <a:r>
              <a:rPr sz="1400" dirty="0"/>
              <a:t>, </a:t>
            </a:r>
            <a:r>
              <a:rPr sz="1400" dirty="0" err="1"/>
              <a:t>targetSum</a:t>
            </a:r>
            <a:r>
              <a:rPr sz="1400" dirty="0"/>
              <a:t>, S)</a:t>
            </a:r>
            <a:br>
              <a:rPr sz="1400" dirty="0"/>
            </a:br>
            <a:br>
              <a:rPr sz="1400" dirty="0"/>
            </a:br>
            <a:r>
              <a:rPr sz="1400" dirty="0"/>
              <a:t>CALL </a:t>
            </a:r>
            <a:r>
              <a:rPr sz="1400" dirty="0" err="1"/>
              <a:t>findSubsets</a:t>
            </a:r>
            <a:r>
              <a:rPr sz="1400" dirty="0"/>
              <a:t>(0, { }, 0, 15, {5, 10, 12})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5/10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Dry Run — Tracing the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333333"/>
                </a:solidFill>
                <a:latin typeface="Consolas"/>
              </a:defRPr>
            </a:pPr>
            <a:r>
              <a:t>Call findSubsets(0, { }, 0) — start with empty subset</a:t>
            </a:r>
          </a:p>
          <a:p>
            <a:pPr>
              <a:spcAft>
                <a:spcPts val="300"/>
              </a:spcAft>
              <a:defRPr sz="1700" b="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spcAft>
                <a:spcPts val="300"/>
              </a:spcAft>
              <a:defRPr sz="1700" b="0">
                <a:solidFill>
                  <a:srgbClr val="333333"/>
                </a:solidFill>
                <a:latin typeface="Consolas"/>
              </a:defRPr>
            </a:pPr>
            <a:r>
              <a:t>  ► Include 5  →  findSubsets(1, {5}, 5)</a:t>
            </a:r>
          </a:p>
          <a:p>
            <a:pPr>
              <a:spcAft>
                <a:spcPts val="300"/>
              </a:spcAft>
              <a:defRPr sz="1700" b="0">
                <a:solidFill>
                  <a:srgbClr val="333333"/>
                </a:solidFill>
                <a:latin typeface="Consolas"/>
              </a:defRPr>
            </a:pPr>
            <a:r>
              <a:t>      ► Include 10  →  findSubsets(2, {5,10}, 15)</a:t>
            </a:r>
          </a:p>
          <a:p>
            <a:pPr>
              <a:spcAft>
                <a:spcPts val="300"/>
              </a:spcAft>
              <a:defRPr sz="1700" b="0">
                <a:solidFill>
                  <a:srgbClr val="333333"/>
                </a:solidFill>
                <a:latin typeface="Consolas"/>
              </a:defRPr>
            </a:pPr>
            <a:r>
              <a:t>            currentSum == 15  →  ✅ SOLUTION FOUND: {5, 10}</a:t>
            </a:r>
          </a:p>
          <a:p>
            <a:pPr>
              <a:spcAft>
                <a:spcPts val="300"/>
              </a:spcAft>
              <a:defRPr sz="1700" b="0">
                <a:solidFill>
                  <a:srgbClr val="333333"/>
                </a:solidFill>
                <a:latin typeface="Consolas"/>
              </a:defRPr>
            </a:pPr>
            <a:r>
              <a:t>      ► Exclude 10  →  findSubsets(2, {5}, 5)</a:t>
            </a:r>
          </a:p>
          <a:p>
            <a:pPr>
              <a:spcAft>
                <a:spcPts val="300"/>
              </a:spcAft>
              <a:defRPr sz="1700" b="0">
                <a:solidFill>
                  <a:srgbClr val="333333"/>
                </a:solidFill>
                <a:latin typeface="Consolas"/>
              </a:defRPr>
            </a:pPr>
            <a:r>
              <a:t>            ► Include 12  →  findSubsets(3, {5,12}, 17)</a:t>
            </a:r>
          </a:p>
          <a:p>
            <a:pPr>
              <a:spcAft>
                <a:spcPts val="300"/>
              </a:spcAft>
              <a:defRPr sz="1700" b="0">
                <a:solidFill>
                  <a:srgbClr val="333333"/>
                </a:solidFill>
                <a:latin typeface="Consolas"/>
              </a:defRPr>
            </a:pPr>
            <a:r>
              <a:t>                  17 &gt; 15  →  ❌ PRUNED</a:t>
            </a:r>
          </a:p>
          <a:p>
            <a:pPr>
              <a:spcAft>
                <a:spcPts val="300"/>
              </a:spcAft>
              <a:defRPr sz="1700" b="0">
                <a:solidFill>
                  <a:srgbClr val="333333"/>
                </a:solidFill>
                <a:latin typeface="Consolas"/>
              </a:defRPr>
            </a:pPr>
            <a:r>
              <a:t>            ► Exclude 12  →  findSubsets(3, {5}, 5)</a:t>
            </a:r>
          </a:p>
          <a:p>
            <a:pPr>
              <a:spcAft>
                <a:spcPts val="300"/>
              </a:spcAft>
              <a:defRPr sz="1700" b="0">
                <a:solidFill>
                  <a:srgbClr val="333333"/>
                </a:solidFill>
                <a:latin typeface="Consolas"/>
              </a:defRPr>
            </a:pPr>
            <a:r>
              <a:t>                  End of set, 5 ≠ 15  →  Unsuccessful</a:t>
            </a:r>
          </a:p>
          <a:p>
            <a:pPr>
              <a:spcAft>
                <a:spcPts val="300"/>
              </a:spcAft>
              <a:defRPr sz="1700" b="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spcAft>
                <a:spcPts val="300"/>
              </a:spcAft>
              <a:defRPr sz="1700" b="0">
                <a:solidFill>
                  <a:srgbClr val="333333"/>
                </a:solidFill>
                <a:latin typeface="Consolas"/>
              </a:defRPr>
            </a:pPr>
            <a:r>
              <a:t>  ► Exclude 5  →  findSubsets(1, { }, 0)</a:t>
            </a:r>
          </a:p>
          <a:p>
            <a:pPr>
              <a:spcAft>
                <a:spcPts val="300"/>
              </a:spcAft>
              <a:defRPr sz="1700" b="0">
                <a:solidFill>
                  <a:srgbClr val="333333"/>
                </a:solidFill>
                <a:latin typeface="Consolas"/>
              </a:defRPr>
            </a:pPr>
            <a:r>
              <a:t>      ► Include 10 → {10}, sum=10 → Include 12 → {10,12}, sum=22 → ❌ PRUNED</a:t>
            </a:r>
          </a:p>
          <a:p>
            <a:pPr>
              <a:spcAft>
                <a:spcPts val="300"/>
              </a:spcAft>
              <a:defRPr sz="1700" b="0">
                <a:solidFill>
                  <a:srgbClr val="333333"/>
                </a:solidFill>
                <a:latin typeface="Consolas"/>
              </a:defRPr>
            </a:pPr>
            <a:r>
              <a:t>                                   → Exclude 12 → {10}, sum=10 → Unsuccessful</a:t>
            </a:r>
          </a:p>
          <a:p>
            <a:pPr>
              <a:spcAft>
                <a:spcPts val="300"/>
              </a:spcAft>
              <a:defRPr sz="1700" b="0">
                <a:solidFill>
                  <a:srgbClr val="333333"/>
                </a:solidFill>
                <a:latin typeface="Consolas"/>
              </a:defRPr>
            </a:pPr>
            <a:r>
              <a:t>      ► Exclude 10 → { }, sum=0  → Include 12 → {12}, sum=12 → Unsuccessful</a:t>
            </a:r>
          </a:p>
          <a:p>
            <a:pPr>
              <a:spcAft>
                <a:spcPts val="300"/>
              </a:spcAft>
              <a:defRPr sz="1700" b="0">
                <a:solidFill>
                  <a:srgbClr val="333333"/>
                </a:solidFill>
                <a:latin typeface="Consolas"/>
              </a:defRPr>
            </a:pPr>
            <a:r>
              <a:t>                                  → Exclude 12 → { }, sum=0  → Unsuccessful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6/10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State Space Tree — Visualization</a:t>
            </a:r>
          </a:p>
        </p:txBody>
      </p:sp>
      <p:pic>
        <p:nvPicPr>
          <p:cNvPr id="4" name="Picture 3" descr="Visu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234440"/>
            <a:ext cx="1097280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7/10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the State Space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515600" cy="5678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rPr dirty="0"/>
              <a:t>Root Node (Level 0):  { }, Sum = 0  — starting point.</a:t>
            </a:r>
          </a:p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rPr dirty="0"/>
              <a:t>Level 1 — Decision on element 5:</a:t>
            </a:r>
          </a:p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rPr dirty="0"/>
              <a:t>   Include 5 → {5}, Sum = 5     |     Exclude 5 → { }, Sum = 0</a:t>
            </a:r>
          </a:p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endParaRPr dirty="0"/>
          </a:p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rPr dirty="0"/>
              <a:t>Level 2 — Decision on element 10:</a:t>
            </a:r>
          </a:p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rPr dirty="0"/>
              <a:t>   {5} + Include 10 → {5,10}, Sum = 15   ✅ TARGET REACHED!</a:t>
            </a:r>
          </a:p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endParaRPr dirty="0"/>
          </a:p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rPr dirty="0"/>
              <a:t>Level 3 — Decision on element 12 (leaf nodes):</a:t>
            </a:r>
          </a:p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endParaRPr dirty="0"/>
          </a:p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rPr dirty="0"/>
              <a:t>   🟢  GREEN nodes → Valid solution (sum == 15):</a:t>
            </a:r>
          </a:p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rPr dirty="0"/>
              <a:t>           {5, 10}  with sum = 15</a:t>
            </a:r>
          </a:p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endParaRPr dirty="0"/>
          </a:p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rPr dirty="0"/>
              <a:t>   🔴  RED nodes → Pruned branches (sum &gt; 15):</a:t>
            </a:r>
          </a:p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rPr dirty="0"/>
              <a:t>           {5,10,12}=27   {5,12}=17   {10,12}=22</a:t>
            </a:r>
          </a:p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endParaRPr dirty="0"/>
          </a:p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rPr dirty="0"/>
              <a:t>   ⬜  GRAY nodes → Unsuccessful leaves (sum &lt; 15):</a:t>
            </a:r>
          </a:p>
          <a:p>
            <a:pPr>
              <a:spcAft>
                <a:spcPts val="3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rPr dirty="0"/>
              <a:t>           {5}=5   {10}=10   {12}=12   { }=0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8/10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 &amp; Complexity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029200" cy="22860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4663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B8A3A"/>
                </a:solidFill>
                <a:latin typeface="Calibri"/>
              </a:defRPr>
            </a:pPr>
            <a:r>
              <a:t>Result</a:t>
            </a:r>
          </a:p>
          <a:p>
            <a:pPr>
              <a:spcAft>
                <a:spcPts val="5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5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Valid subset found:  { 5, 10 }</a:t>
            </a:r>
          </a:p>
          <a:p>
            <a:pPr>
              <a:spcAft>
                <a:spcPts val="5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Sum:  5 + 10 = 15  ✓</a:t>
            </a:r>
          </a:p>
          <a:p>
            <a:pPr>
              <a:spcAft>
                <a:spcPts val="5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Total valid subsets:  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371600"/>
            <a:ext cx="5029200" cy="2286000"/>
          </a:xfrm>
          <a:prstGeom prst="rect">
            <a:avLst/>
          </a:prstGeom>
          <a:solidFill>
            <a:srgbClr val="FF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1463040"/>
            <a:ext cx="4663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C62828"/>
                </a:solidFill>
                <a:latin typeface="Calibri"/>
              </a:defRPr>
            </a:pPr>
            <a:r>
              <a:t>Why is {12} not a solution?</a:t>
            </a:r>
          </a:p>
          <a:p>
            <a:pPr>
              <a:spcAft>
                <a:spcPts val="4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12 ≠ 15  →  does not meet target.</a:t>
            </a:r>
          </a:p>
          <a:p>
            <a:pPr>
              <a:spcAft>
                <a:spcPts val="4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1900" b="1">
                <a:solidFill>
                  <a:srgbClr val="C62828"/>
                </a:solidFill>
                <a:latin typeface="Calibri"/>
              </a:defRPr>
            </a:pPr>
            <a:r>
              <a:t>Why prune branches &gt; 15?</a:t>
            </a:r>
          </a:p>
          <a:p>
            <a:pPr>
              <a:spcAft>
                <a:spcPts val="4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All elements are positive — adding more</a:t>
            </a:r>
          </a:p>
          <a:p>
            <a:pPr>
              <a:spcAft>
                <a:spcPts val="4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can only increase the sum further.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023359"/>
            <a:ext cx="10789920" cy="2583917"/>
          </a:xfrm>
          <a:prstGeom prst="rect">
            <a:avLst/>
          </a:prstGeom>
          <a:solidFill>
            <a:srgbClr val="E8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0332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283E9A"/>
                </a:solidFill>
                <a:latin typeface="Calibri"/>
              </a:defRPr>
            </a:pPr>
            <a:r>
              <a:t>Time Complexity</a:t>
            </a:r>
          </a:p>
          <a:p>
            <a:pPr>
              <a:spcAft>
                <a:spcPts val="4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Worst case:  O(2ⁿ)  — every subset is explored.</a:t>
            </a:r>
          </a:p>
          <a:p>
            <a:pPr>
              <a:spcAft>
                <a:spcPts val="4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With pruning:  significantly fewer nodes are visited.</a:t>
            </a:r>
          </a:p>
          <a:p>
            <a:pPr>
              <a:spcAft>
                <a:spcPts val="4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For n = 3:  total possible subsets = 2³ = 8;  pruned branches = 3  →  only 5 leaf evaluations needed.</a:t>
            </a:r>
          </a:p>
          <a:p>
            <a:pPr>
              <a:spcAft>
                <a:spcPts val="4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1900" b="0">
                <a:solidFill>
                  <a:srgbClr val="333333"/>
                </a:solidFill>
                <a:latin typeface="Calibri"/>
              </a:defRPr>
            </a:pPr>
            <a:r>
              <a:t>Space Complexity:  O(n)  — recursion stack depth equals number of elements.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9/10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2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Learning Outcomes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283E9A"/>
                </a:solidFill>
                <a:latin typeface="Calibri"/>
              </a:defRPr>
            </a:pPr>
            <a:r>
              <a:t>Learning Outcomes</a:t>
            </a:r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r>
              <a:t>1.  Understood the concept of backtracking and recursion.</a:t>
            </a:r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r>
              <a:t>2.  Learned how to construct and interpret a state space tree.</a:t>
            </a:r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r>
              <a:t>3.  Understood how include/exclude decisions generate all subsets.</a:t>
            </a:r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r>
              <a:t>4.  Learned how pruning (bounding functions) improve efficiency.</a:t>
            </a:r>
          </a:p>
          <a:p>
            <a:pPr>
              <a:spcAft>
                <a:spcPts val="500"/>
              </a:spcAft>
              <a:defRPr sz="2100" b="0">
                <a:solidFill>
                  <a:srgbClr val="333333"/>
                </a:solidFill>
                <a:latin typeface="Calibri"/>
              </a:defRPr>
            </a:pPr>
            <a:r>
              <a:t>5.  Practiced documenting a project with README and visualizations.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solidFill>
            <a:srgbClr val="1A2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52628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Conclusion:  Backtracking is a powerful technique for solving combinatorial problems like Sum of Subsets. By systematically exploring include/exclude decisions and pruning branches that exceed the target, it finds all valid solutions efficiently without exhaustively checking every possibility.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3845</Words>
  <Application>Microsoft Office PowerPoint</Application>
  <PresentationFormat>Widescreen</PresentationFormat>
  <Paragraphs>342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Arial</vt:lpstr>
      <vt:lpstr>Calibri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0/1 Knapsack using Dynamic Programming</vt:lpstr>
      <vt:lpstr>Problem Statement</vt:lpstr>
      <vt:lpstr>Input and Objective</vt:lpstr>
      <vt:lpstr>Dynamic Programming Approach</vt:lpstr>
      <vt:lpstr>DP Table Visualization</vt:lpstr>
      <vt:lpstr>Result and Complexity</vt:lpstr>
      <vt:lpstr>Learning Outcome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aileni krishnasahithi</cp:lastModifiedBy>
  <cp:revision>2</cp:revision>
  <dcterms:created xsi:type="dcterms:W3CDTF">2013-01-27T09:14:16Z</dcterms:created>
  <dcterms:modified xsi:type="dcterms:W3CDTF">2026-10-22T06:39:01Z</dcterms:modified>
  <cp:category/>
</cp:coreProperties>
</file>